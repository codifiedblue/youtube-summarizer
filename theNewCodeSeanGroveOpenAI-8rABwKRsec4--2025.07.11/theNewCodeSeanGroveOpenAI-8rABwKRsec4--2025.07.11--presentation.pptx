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to share an idea from Sean Grove at OpenAI that has stuck with me: the most valuable thing a software engineer produces is not code — it's the specification behind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Sean opens his talk with a show of hands. Who writes code? Most people raise their hand. Then he asks — keep it up if you feel the most valuable thing you produce is the code. A lot of hands stay up. That answer feels natural. But it's wrong.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 is only ten to twenty percent of the value an engineer brings. The other eighty to ninety percent is structured communication. That's a big claim — let me show you what he means.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 at the actual workflow. You talk to users. You distill their challenges. You ideate, you plan, you share those plans with colleagues. Then you translate to code — that's the part we usually focus on. And finally you test and verify. But you're not testing the code. You're testing whether it achieved the goal in the world. Almost every step of that is communication.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models get more capable, that communication step is the bottleneck. Knowing what to build, why to build it, and whether you actually built the right thing — that's all communication. So the person who communicates most effectively becomes the most valuable programmer. If you can communicate clearly, you can program.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look at how we actually use LLMs. We write a prompt that describes our intent. The model gives us code. We carefully version-control the code — and we discard the prompt. Something is backwards here.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 normal compiler workflow, nobody saves the binary and throws away the source. The source is what we care about — we regenerate the binary every build. Yet with LLMs we do the opposite. We shred the source — the prompt — and version-control the binary. The fix is to treat the spec, the intent, as the durable artifact.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There's a deeper reason specs matter. Code is a lossy projection of intent. If you decompile a C binary, you don't get back the comments, the variable names, the reasoning. The intent isn't in there. Even well-written code doesn't carry all the values and trade-offs the team made. You have to infer them.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specification, on the other hand, contains enough information to compile in many directions. The same way C source compiles to ARM, x86, or WebAssembly — a robust spec can produce TypeScript, Rust, servers, clients, documentation, tutorials, even a podcast that explains your product to users. The spec is the source. Everything else is a target.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OpenAI's Model Spec is the working example. It's a living document of the intentions and values they want their models to embody. And it's open source — you can find it on GitHub. It's just a folder of markdown files.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Markdown is remarkable for this. It's human-readable, versioned, and change-logged. And because it's natural language, anyone on the team can contribute — product managers, designers, engineers, QA. It's the universal artifact that aligns everyone on what the system should and shouldn't do.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But markdown alone isn't enough. Every clause in the Model Spec has an ID. And for each ID, there's a companion file with challenging prompts the model has to answer correctly. So the spec encodes its own success criteria. The document literally tests itself.</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what enables deliberative alignment. You take the spec and a hard prompt, sample from the model, and a grader scores the response against the spec. That score reinforces the weights. Now the same document is both training material and eval material. The policy moves from inference-time prompts down into the model's weights.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why this matters in practice. A recent 4o update shipped with extreme sycophancy. There were examples of users explicitly complaining about the model being sycophantic — and the model praising them for the insight. It hurts. It erodes trust.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natural questions are: was it intended? Was it accidental? Why wasn't it caught? But here's the thing — the Model Spec already had a clause that said don't be sycophantic. It explained why short-term flattery hurts everyone long-term. So this wasn't a debate. The behavior didn't match the spec. That makes it a bug. Roll it back, fix it, ship.</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meantime, the spec served as a trust anchor. It tells humans what to expect, and it tells the model what to produce. Even if the only thing a spec did was align humans, it would already be enormously valuable.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once you accept that specs are the real source, you start to notice they behave like code. They compose. They're executable. They're testable. They have interfaces with the real world. You can ship them as modules.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the entire tool chain ports over. Type checkers become consistency checks between team specs. Linters flag overly ambiguous language. Unit tests are the challenge prompts attached to each clause. The compiler is the model itself, aligned through training. Same engineering discipline — but targeted at intent rather than syntax.</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means everyone on a software team is already a spec author. Engineers align silicon through technical design docs. PMs align teams through product requirements. UX designers align users through wireframes and flow specs. QA aligns the release through test plans and acceptance criteria. And anyone writing a prompt is aligning a model. Every one of these artifacts is a specification.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coming back to the show of hands at the start — software engineering has never been about code. Coding is a wonderful skill. But it's not the end goal. Engineering is the precise exploration by humans of software solutions to human problems. We're just moving from disparate machine encodings to a unified human encoding.</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here's the call to action. For your next AI feature, start with a specification. Define what you actually expect to happen and what success looks like. Then make it executable — feed it to the model, test the model against it.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good news is, you don't have to invent the workflow yourself. Over the past year, a whole ecosystem has popped up around spec-driven development. These are tools that plug into your coding agent and walk you through writing specs, breaking them into plans, and executing them safely.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main players. GitHub itself shipped spec-kit. BMAD-METHOD comes from the bmad-code organization. Fission-AI maintains OpenSpec. Addy Osmani publishes agent-skills. SkillPanel has maister. And at the top, with over 167 thousand stars, is Superpowers from Jesse Vincent — that's the one I want to walk through, because it best illustrates what spec-first development with an agent actually feels like.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Superpowers describes itself as an agentic skills framework and software development methodology. It's a plugin for coding agents like Claude Code, Codex, Cursor, OpenCode, Copilot CLI, and Gemini. The key word is methodology — it doesn't just add tools, it teaches the agent a workflow that always starts with a spec.</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Installation is one command. In Claude Code it's a single plugin install. There are equivalents for Codex, Cursor, OpenCode, Copilot, and Gemini. Once installed, the skills trigger automatically — you don't need to remember to invoke them.</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what the workflow feels like. Step one — you describe what you want, and instead of writing code, the agent activates the brainstorming skill. It asks Socratic questions, surfaces hidden assumptions, explores alternatives, and produces a design document. This is the spec coming out of the conversation, in chunks short enough to actually read.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Once you sign off on the design, the writing-plans skill turns it into an implementation plan. The plan is broken into tasks small enough to take 2 to 5 minutes each. Every task has exact file paths, the code to write, and verification steps. The bar is: clear enough for an enthusiastic junior engineer with no context to follow.</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you say go, Superpowers dispatches a fresh subagent for each task in the plan. Each task gets a two-stage review — first against the spec, then for code quality. Because each subagent starts clean, it can't drift from the plan. Jesse reports agents working autonomously for a couple of hours without deviating.</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Throughout execution, the test-driven-development skill enforces a strict red-green-refactor cycle. Write the failing test first, watch it fail, write the minimal code, watch it pass, commit. If code shows up before its test, it gets deleted. The spec, plan, and tests form the alignment layer.</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Between tasks the agent requests its own code review and reports issues by severity — critical issues block progress. If something breaks, systematic-debugging runs a 4-phase root-cause process. When everything's done, finishing-a-development-branch verifies the tests, offers merge or PR options, and cleans up the worktree it was working in.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reason this works is that the methodology enforces spec-first. The skills trigger automatically based on what you're doing — you don't have to remember to invoke them. The spec stays the source of truth from brainstorming through merge. It's exactly Sean's argument made operational.</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to bring it all the way back. Why should we, as engineers, write specs? Because code is a lossy projection of what we actually meant. Because specs align humans on intent before any machine gets involved. Because specs are executable — they're training material, eval material, and an audit trail all at once. Because the only way to scale trust in AI agents is to give them an explicit, testable target. And because the discipline of writing the spec is the engineering — whoever writes it is the engineer.</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Stop shredding your prompts. The spec is the source.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141F"/>
        </a:solidFill>
        <a:effectLst/>
      </p:bgPr>
    </p:bg>
    <p:spTree>
      <p:nvGrpSpPr>
        <p:cNvPr id="1" name=""/>
        <p:cNvGrpSpPr/>
        <p:nvPr/>
      </p:nvGrpSpPr>
      <p:grpSpPr/>
      <p:sp>
        <p:nvSpPr>
          <p:cNvPr id="2" name="TextBox 1"/>
          <p:cNvSpPr txBox="1"/>
          <p:nvPr/>
        </p:nvSpPr>
        <p:spPr>
          <a:xfrm>
            <a:off x="640080" y="548640"/>
            <a:ext cx="10972800" cy="5760720"/>
          </a:xfrm>
          <a:prstGeom prst="rect">
            <a:avLst/>
          </a:prstGeom>
          <a:noFill/>
        </p:spPr>
        <p:txBody>
          <a:bodyPr wrap="square">
            <a:spAutoFit/>
          </a:bodyPr>
          <a:lstStyle/>
          <a:p>
            <a:pPr>
              <a:spcAft>
                <a:spcPts val="1400"/>
              </a:spcAft>
            </a:pPr>
            <a:r>
              <a:rPr sz="5600" b="1" i="0">
                <a:solidFill>
                  <a:srgbClr val="6EA8FE"/>
                </a:solidFill>
                <a:latin typeface="Helvetica Neue"/>
              </a:rPr>
              <a:t>The New Code</a:t>
            </a:r>
          </a:p>
          <a:p>
            <a:pPr>
              <a:spcAft>
                <a:spcPts val="1200"/>
              </a:spcAft>
            </a:pPr>
            <a:r>
              <a:rPr sz="3200" b="1" i="0">
                <a:solidFill>
                  <a:srgbClr val="EAECEF"/>
                </a:solidFill>
                <a:latin typeface="Helvetica Neue"/>
              </a:rPr>
              <a:t>Specifications are the source.</a:t>
            </a:r>
          </a:p>
          <a:p>
            <a:pPr>
              <a:spcAft>
                <a:spcPts val="1200"/>
              </a:spcAft>
            </a:pPr>
            <a:r>
              <a:rPr sz="3200" b="1" i="0">
                <a:solidFill>
                  <a:srgbClr val="EAECEF"/>
                </a:solidFill>
                <a:latin typeface="Helvetica Neue"/>
              </a:rPr>
              <a:t>Code is the binary.</a:t>
            </a:r>
          </a:p>
          <a:p>
            <a:pPr>
              <a:spcAft>
                <a:spcPts val="400"/>
              </a:spcAft>
            </a:pPr>
          </a:p>
          <a:p>
            <a:pPr>
              <a:spcAft>
                <a:spcPts val="600"/>
              </a:spcAft>
            </a:pPr>
            <a:r>
              <a:rPr sz="2000" b="0" i="1">
                <a:solidFill>
                  <a:srgbClr val="9AA3B2"/>
                </a:solidFill>
                <a:latin typeface="Helvetica Neue"/>
              </a:rPr>
              <a:t>Adapted from Sean Grove, OpenAI Alignment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0141F"/>
        </a:solidFill>
        <a:effectLst/>
      </p:bgPr>
    </p:bg>
    <p:spTree>
      <p:nvGrpSpPr>
        <p:cNvPr id="1" name=""/>
        <p:cNvGrpSpPr/>
        <p:nvPr/>
      </p:nvGrpSpPr>
      <p:grpSpPr/>
      <p:sp>
        <p:nvSpPr>
          <p:cNvPr id="2" name="TextBox 1"/>
          <p:cNvSpPr txBox="1"/>
          <p:nvPr/>
        </p:nvSpPr>
        <p:spPr>
          <a:xfrm>
            <a:off x="640080" y="548640"/>
            <a:ext cx="10972800" cy="5760720"/>
          </a:xfrm>
          <a:prstGeom prst="rect">
            <a:avLst/>
          </a:prstGeom>
          <a:noFill/>
        </p:spPr>
        <p:txBody>
          <a:bodyPr wrap="square">
            <a:spAutoFit/>
          </a:bodyPr>
          <a:lstStyle/>
          <a:p>
            <a:pPr>
              <a:spcAft>
                <a:spcPts val="1800"/>
              </a:spcAft>
            </a:pPr>
            <a:r>
              <a:rPr sz="4400" b="1" i="0">
                <a:solidFill>
                  <a:srgbClr val="6EA8FE"/>
                </a:solidFill>
                <a:latin typeface="Helvetica Neue"/>
              </a:rPr>
              <a:t>A quick show of hands</a:t>
            </a:r>
          </a:p>
          <a:p>
            <a:pPr>
              <a:spcAft>
                <a:spcPts val="400"/>
              </a:spcAft>
            </a:pPr>
          </a:p>
          <a:p>
            <a:pPr>
              <a:spcAft>
                <a:spcPts val="800"/>
              </a:spcAft>
            </a:pPr>
            <a:r>
              <a:rPr sz="2600" b="0" i="0">
                <a:solidFill>
                  <a:srgbClr val="EAECEF"/>
                </a:solidFill>
                <a:latin typeface="Helvetica Neue"/>
              </a:rPr>
              <a:t>Who here writes code?</a:t>
            </a:r>
          </a:p>
          <a:p>
            <a:pPr>
              <a:spcAft>
                <a:spcPts val="400"/>
              </a:spcAft>
            </a:pPr>
          </a:p>
          <a:p>
            <a:pPr>
              <a:spcAft>
                <a:spcPts val="800"/>
              </a:spcAft>
            </a:pPr>
            <a:r>
              <a:rPr sz="2600" b="0" i="0">
                <a:solidFill>
                  <a:srgbClr val="EAECEF"/>
                </a:solidFill>
                <a:latin typeface="Helvetica Neue"/>
              </a:rPr>
              <a:t>Who feels their </a:t>
            </a:r>
            <a:r>
              <a:rPr sz="2600" b="1" i="0">
                <a:solidFill>
                  <a:srgbClr val="6EA8FE"/>
                </a:solidFill>
                <a:latin typeface="Helvetica Neue"/>
              </a:rPr>
              <a:t>most valuable artifact</a:t>
            </a:r>
            <a:r>
              <a:rPr sz="2600" b="0" i="0">
                <a:solidFill>
                  <a:srgbClr val="EAECEF"/>
                </a:solidFill>
                <a:latin typeface="Helvetica Neue"/>
              </a:rPr>
              <a:t> is the code itself?</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0141F"/>
        </a:solidFill>
        <a:effectLst/>
      </p:bgPr>
    </p:bg>
    <p:spTree>
      <p:nvGrpSpPr>
        <p:cNvPr id="1" name=""/>
        <p:cNvGrpSpPr/>
        <p:nvPr/>
      </p:nvGrpSpPr>
      <p:grpSpPr/>
      <p:sp>
        <p:nvSpPr>
          <p:cNvPr id="2" name="TextBox 1"/>
          <p:cNvSpPr txBox="1"/>
          <p:nvPr/>
        </p:nvSpPr>
        <p:spPr>
          <a:xfrm>
            <a:off x="640080" y="548640"/>
            <a:ext cx="10972800" cy="5760720"/>
          </a:xfrm>
          <a:prstGeom prst="rect">
            <a:avLst/>
          </a:prstGeom>
          <a:noFill/>
        </p:spPr>
        <p:txBody>
          <a:bodyPr wrap="square">
            <a:spAutoFit/>
          </a:bodyPr>
          <a:lstStyle/>
          <a:p>
            <a:pPr>
              <a:spcAft>
                <a:spcPts val="1800"/>
              </a:spcAft>
            </a:pPr>
            <a:r>
              <a:rPr sz="4400" b="1" i="0">
                <a:solidFill>
                  <a:srgbClr val="6EA8FE"/>
                </a:solidFill>
                <a:latin typeface="Helvetica Neue"/>
              </a:rPr>
              <a:t>Code is 10–20% of the job</a:t>
            </a:r>
          </a:p>
          <a:p>
            <a:pPr>
              <a:spcAft>
                <a:spcPts val="400"/>
              </a:spcAft>
            </a:pPr>
          </a:p>
          <a:p>
            <a:pPr>
              <a:spcAft>
                <a:spcPts val="800"/>
              </a:spcAft>
            </a:pPr>
            <a:r>
              <a:rPr sz="2600" b="0" i="0">
                <a:solidFill>
                  <a:srgbClr val="EAECEF"/>
                </a:solidFill>
                <a:latin typeface="Helvetica Neue"/>
              </a:rPr>
              <a:t>The other </a:t>
            </a:r>
            <a:r>
              <a:rPr sz="2600" b="1" i="0">
                <a:solidFill>
                  <a:srgbClr val="6EA8FE"/>
                </a:solidFill>
                <a:latin typeface="Helvetica Neue"/>
              </a:rPr>
              <a:t>80–90%</a:t>
            </a:r>
            <a:r>
              <a:rPr sz="2600" b="0" i="0">
                <a:solidFill>
                  <a:srgbClr val="EAECEF"/>
                </a:solidFill>
                <a:latin typeface="Helvetica Neue"/>
              </a:rPr>
              <a:t> is structured communication.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0141F"/>
        </a:solidFill>
        <a:effectLst/>
      </p:bgPr>
    </p:bg>
    <p:spTree>
      <p:nvGrpSpPr>
        <p:cNvPr id="1" name=""/>
        <p:cNvGrpSpPr/>
        <p:nvPr/>
      </p:nvGrpSpPr>
      <p:grpSpPr/>
      <p:sp>
        <p:nvSpPr>
          <p:cNvPr id="2" name="TextBox 1"/>
          <p:cNvSpPr txBox="1"/>
          <p:nvPr/>
        </p:nvSpPr>
        <p:spPr>
          <a:xfrm>
            <a:off x="640080" y="548640"/>
            <a:ext cx="10972800" cy="5760720"/>
          </a:xfrm>
          <a:prstGeom prst="rect">
            <a:avLst/>
          </a:prstGeom>
          <a:noFill/>
        </p:spPr>
        <p:txBody>
          <a:bodyPr wrap="square">
            <a:spAutoFit/>
          </a:bodyPr>
          <a:lstStyle/>
          <a:p>
            <a:pPr>
              <a:spcAft>
                <a:spcPts val="1800"/>
              </a:spcAft>
            </a:pPr>
            <a:r>
              <a:rPr sz="4400" b="1" i="0">
                <a:solidFill>
                  <a:srgbClr val="6EA8FE"/>
                </a:solidFill>
                <a:latin typeface="Helvetica Neue"/>
              </a:rPr>
              <a:t>What engineers actually do</a:t>
            </a:r>
          </a:p>
          <a:p>
            <a:pPr>
              <a:spcAft>
                <a:spcPts val="400"/>
              </a:spcAft>
            </a:pPr>
          </a:p>
          <a:p>
            <a:pPr>
              <a:spcAft>
                <a:spcPts val="800"/>
              </a:spcAft>
            </a:pPr>
            <a:r>
              <a:rPr sz="2400" b="0" i="0">
                <a:solidFill>
                  <a:srgbClr val="EAECEF"/>
                </a:solidFill>
                <a:latin typeface="Helvetica Neue"/>
              </a:rPr>
              <a:t>•  Talk to users</a:t>
            </a:r>
          </a:p>
          <a:p>
            <a:pPr>
              <a:spcAft>
                <a:spcPts val="800"/>
              </a:spcAft>
            </a:pPr>
            <a:r>
              <a:rPr sz="2400" b="0" i="0">
                <a:solidFill>
                  <a:srgbClr val="EAECEF"/>
                </a:solidFill>
                <a:latin typeface="Helvetica Neue"/>
              </a:rPr>
              <a:t>•  Distill challenges</a:t>
            </a:r>
          </a:p>
          <a:p>
            <a:pPr>
              <a:spcAft>
                <a:spcPts val="800"/>
              </a:spcAft>
            </a:pPr>
            <a:r>
              <a:rPr sz="2400" b="0" i="0">
                <a:solidFill>
                  <a:srgbClr val="EAECEF"/>
                </a:solidFill>
                <a:latin typeface="Helvetica Neue"/>
              </a:rPr>
              <a:t>•  Ideate, plan, share</a:t>
            </a:r>
          </a:p>
          <a:p>
            <a:pPr>
              <a:spcAft>
                <a:spcPts val="800"/>
              </a:spcAft>
            </a:pPr>
            <a:r>
              <a:rPr sz="2400" b="0" i="0">
                <a:solidFill>
                  <a:srgbClr val="EAECEF"/>
                </a:solidFill>
                <a:latin typeface="Helvetica Neue"/>
              </a:rPr>
              <a:t>•  Translate to code</a:t>
            </a:r>
          </a:p>
          <a:p>
            <a:pPr>
              <a:spcAft>
                <a:spcPts val="800"/>
              </a:spcAft>
            </a:pPr>
            <a:r>
              <a:rPr sz="2400" b="0" i="0">
                <a:solidFill>
                  <a:srgbClr val="EAECEF"/>
                </a:solidFill>
                <a:latin typeface="Helvetica Neue"/>
              </a:rPr>
              <a:t>•  Test and verify **intent**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0141F"/>
        </a:solidFill>
        <a:effectLst/>
      </p:bgPr>
    </p:bg>
    <p:spTree>
      <p:nvGrpSpPr>
        <p:cNvPr id="1" name=""/>
        <p:cNvGrpSpPr/>
        <p:nvPr/>
      </p:nvGrpSpPr>
      <p:grpSpPr/>
      <p:sp>
        <p:nvSpPr>
          <p:cNvPr id="2" name="TextBox 1"/>
          <p:cNvSpPr txBox="1"/>
          <p:nvPr/>
        </p:nvSpPr>
        <p:spPr>
          <a:xfrm>
            <a:off x="640080" y="548640"/>
            <a:ext cx="10972800" cy="5760720"/>
          </a:xfrm>
          <a:prstGeom prst="rect">
            <a:avLst/>
          </a:prstGeom>
          <a:noFill/>
        </p:spPr>
        <p:txBody>
          <a:bodyPr wrap="square">
            <a:spAutoFit/>
          </a:bodyPr>
          <a:lstStyle/>
          <a:p>
            <a:pPr>
              <a:spcAft>
                <a:spcPts val="1800"/>
              </a:spcAft>
            </a:pPr>
            <a:r>
              <a:rPr sz="4400" b="1" i="0">
                <a:solidFill>
                  <a:srgbClr val="6EA8FE"/>
                </a:solidFill>
                <a:latin typeface="Helvetica Neue"/>
              </a:rPr>
              <a:t>The bottleneck</a:t>
            </a:r>
          </a:p>
          <a:p>
            <a:pPr>
              <a:spcAft>
                <a:spcPts val="400"/>
              </a:spcAft>
            </a:pPr>
          </a:p>
          <a:p>
            <a:pPr>
              <a:spcAft>
                <a:spcPts val="1000"/>
              </a:spcAft>
            </a:pPr>
            <a:r>
              <a:rPr sz="2800" b="0" i="1">
                <a:solidFill>
                  <a:srgbClr val="6EA8FE"/>
                </a:solidFill>
                <a:latin typeface="Helvetica Neue"/>
              </a:rPr>
              <a:t>“The person who communicates most effectively is the most valuable programmer.”</a:t>
            </a:r>
          </a:p>
          <a:p>
            <a:pPr>
              <a:spcAft>
                <a:spcPts val="400"/>
              </a:spcAft>
            </a:pPr>
          </a:p>
          <a:p>
            <a:pPr>
              <a:spcAft>
                <a:spcPts val="800"/>
              </a:spcAft>
            </a:pPr>
            <a:r>
              <a:rPr sz="2600" b="0" i="0">
                <a:solidFill>
                  <a:srgbClr val="EAECEF"/>
                </a:solidFill>
                <a:latin typeface="Helvetica Neue"/>
              </a:rPr>
              <a:t>If you can communicate clearly, you can program.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0141F"/>
        </a:solidFill>
        <a:effectLst/>
      </p:bgPr>
    </p:bg>
    <p:spTree>
      <p:nvGrpSpPr>
        <p:cNvPr id="1" name=""/>
        <p:cNvGrpSpPr/>
        <p:nvPr/>
      </p:nvGrpSpPr>
      <p:grpSpPr/>
      <p:sp>
        <p:nvSpPr>
          <p:cNvPr id="2" name="TextBox 1"/>
          <p:cNvSpPr txBox="1"/>
          <p:nvPr/>
        </p:nvSpPr>
        <p:spPr>
          <a:xfrm>
            <a:off x="640080" y="548640"/>
            <a:ext cx="10972800" cy="5760720"/>
          </a:xfrm>
          <a:prstGeom prst="rect">
            <a:avLst/>
          </a:prstGeom>
          <a:noFill/>
        </p:spPr>
        <p:txBody>
          <a:bodyPr wrap="square">
            <a:spAutoFit/>
          </a:bodyPr>
          <a:lstStyle/>
          <a:p>
            <a:pPr>
              <a:spcAft>
                <a:spcPts val="1800"/>
              </a:spcAft>
            </a:pPr>
            <a:r>
              <a:rPr sz="4400" b="1" i="0">
                <a:solidFill>
                  <a:srgbClr val="6EA8FE"/>
                </a:solidFill>
                <a:latin typeface="Helvetica Neue"/>
              </a:rPr>
              <a:t>The vibe coding paradox</a:t>
            </a:r>
          </a:p>
          <a:p>
            <a:pPr>
              <a:spcAft>
                <a:spcPts val="400"/>
              </a:spcAft>
            </a:pPr>
          </a:p>
          <a:p>
            <a:pPr>
              <a:spcAft>
                <a:spcPts val="800"/>
              </a:spcAft>
            </a:pPr>
            <a:r>
              <a:rPr sz="2600" b="0" i="0">
                <a:solidFill>
                  <a:srgbClr val="EAECEF"/>
                </a:solidFill>
                <a:latin typeface="Helvetica Neue"/>
              </a:rPr>
              <a:t>We </a:t>
            </a:r>
            <a:r>
              <a:rPr sz="2600" b="1" i="0">
                <a:solidFill>
                  <a:srgbClr val="6EA8FE"/>
                </a:solidFill>
                <a:latin typeface="Helvetica Neue"/>
              </a:rPr>
              <a:t>prompt</a:t>
            </a:r>
            <a:r>
              <a:rPr sz="2600" b="0" i="0">
                <a:solidFill>
                  <a:srgbClr val="EAECEF"/>
                </a:solidFill>
                <a:latin typeface="Helvetica Neue"/>
              </a:rPr>
              <a:t> the model.</a:t>
            </a:r>
          </a:p>
          <a:p>
            <a:pPr>
              <a:spcAft>
                <a:spcPts val="400"/>
              </a:spcAft>
            </a:pPr>
          </a:p>
          <a:p>
            <a:pPr>
              <a:spcAft>
                <a:spcPts val="800"/>
              </a:spcAft>
            </a:pPr>
            <a:r>
              <a:rPr sz="2600" b="0" i="0">
                <a:solidFill>
                  <a:srgbClr val="EAECEF"/>
                </a:solidFill>
                <a:latin typeface="Helvetica Neue"/>
              </a:rPr>
              <a:t>We </a:t>
            </a:r>
            <a:r>
              <a:rPr sz="2600" b="1" i="0">
                <a:solidFill>
                  <a:srgbClr val="6EA8FE"/>
                </a:solidFill>
                <a:latin typeface="Helvetica Neue"/>
              </a:rPr>
              <a:t>keep the code</a:t>
            </a:r>
            <a:r>
              <a:rPr sz="2600" b="0" i="0">
                <a:solidFill>
                  <a:srgbClr val="EAECEF"/>
                </a:solidFill>
                <a:latin typeface="Helvetica Neue"/>
              </a:rPr>
              <a:t>.</a:t>
            </a:r>
          </a:p>
          <a:p>
            <a:pPr>
              <a:spcAft>
                <a:spcPts val="400"/>
              </a:spcAft>
            </a:pPr>
          </a:p>
          <a:p>
            <a:pPr>
              <a:spcAft>
                <a:spcPts val="800"/>
              </a:spcAft>
            </a:pPr>
            <a:r>
              <a:rPr sz="2600" b="0" i="0">
                <a:solidFill>
                  <a:srgbClr val="EAECEF"/>
                </a:solidFill>
                <a:latin typeface="Helvetica Neue"/>
              </a:rPr>
              <a:t>We </a:t>
            </a:r>
            <a:r>
              <a:rPr sz="2600" b="1" i="0">
                <a:solidFill>
                  <a:srgbClr val="6EA8FE"/>
                </a:solidFill>
                <a:latin typeface="Helvetica Neue"/>
              </a:rPr>
              <a:t>throw the prompt away</a:t>
            </a:r>
            <a:r>
              <a:rPr sz="2600" b="0" i="0">
                <a:solidFill>
                  <a:srgbClr val="EAECEF"/>
                </a:solidFill>
                <a:latin typeface="Helvetica Neue"/>
              </a:rPr>
              <a: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0141F"/>
        </a:solidFill>
        <a:effectLst/>
      </p:bgPr>
    </p:bg>
    <p:spTree>
      <p:nvGrpSpPr>
        <p:cNvPr id="1" name=""/>
        <p:cNvGrpSpPr/>
        <p:nvPr/>
      </p:nvGrpSpPr>
      <p:grpSpPr/>
      <p:sp>
        <p:nvSpPr>
          <p:cNvPr id="2" name="TextBox 1"/>
          <p:cNvSpPr txBox="1"/>
          <p:nvPr/>
        </p:nvSpPr>
        <p:spPr>
          <a:xfrm>
            <a:off x="640080" y="548640"/>
            <a:ext cx="10972800" cy="5760720"/>
          </a:xfrm>
          <a:prstGeom prst="rect">
            <a:avLst/>
          </a:prstGeom>
          <a:noFill/>
        </p:spPr>
        <p:txBody>
          <a:bodyPr wrap="square">
            <a:spAutoFit/>
          </a:bodyPr>
          <a:lstStyle/>
          <a:p>
            <a:pPr>
              <a:spcAft>
                <a:spcPts val="1800"/>
              </a:spcAft>
            </a:pPr>
            <a:r>
              <a:rPr sz="4400" b="1" i="0">
                <a:solidFill>
                  <a:srgbClr val="6EA8FE"/>
                </a:solidFill>
                <a:latin typeface="Helvetica Neue"/>
              </a:rPr>
              <a:t>Compare to a real compiler</a:t>
            </a:r>
          </a:p>
          <a:p>
            <a:pPr>
              <a:spcAft>
                <a:spcPts val="400"/>
              </a:spcAft>
            </a:pPr>
          </a:p>
          <a:p>
            <a:pPr>
              <a:spcAft>
                <a:spcPts val="800"/>
              </a:spcAft>
            </a:pPr>
            <a:r>
              <a:rPr sz="2600" b="0" i="0">
                <a:solidFill>
                  <a:srgbClr val="EAECEF"/>
                </a:solidFill>
                <a:latin typeface="Helvetica Neue"/>
              </a:rPr>
              <a:t>Nobody version-controls the binary</a:t>
            </a:r>
          </a:p>
          <a:p>
            <a:pPr>
              <a:spcAft>
                <a:spcPts val="800"/>
              </a:spcAft>
            </a:pPr>
            <a:r>
              <a:rPr sz="2600" b="0" i="0">
                <a:solidFill>
                  <a:srgbClr val="EAECEF"/>
                </a:solidFill>
                <a:latin typeface="Helvetica Neue"/>
              </a:rPr>
              <a:t>and shreds the C source.</a:t>
            </a:r>
          </a:p>
          <a:p>
            <a:pPr>
              <a:spcAft>
                <a:spcPts val="400"/>
              </a:spcAft>
            </a:pPr>
          </a:p>
          <a:p>
            <a:pPr>
              <a:spcAft>
                <a:spcPts val="1000"/>
              </a:spcAft>
            </a:pPr>
            <a:r>
              <a:rPr sz="2800" b="0" i="1">
                <a:solidFill>
                  <a:srgbClr val="6EA8FE"/>
                </a:solidFill>
                <a:latin typeface="Helvetica Neue"/>
              </a:rPr>
              <a:t>“We shred the source and version-control the binary.”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0141F"/>
        </a:solidFill>
        <a:effectLst/>
      </p:bgPr>
    </p:bg>
    <p:spTree>
      <p:nvGrpSpPr>
        <p:cNvPr id="1" name=""/>
        <p:cNvGrpSpPr/>
        <p:nvPr/>
      </p:nvGrpSpPr>
      <p:grpSpPr/>
      <p:sp>
        <p:nvSpPr>
          <p:cNvPr id="2" name="TextBox 1"/>
          <p:cNvSpPr txBox="1"/>
          <p:nvPr/>
        </p:nvSpPr>
        <p:spPr>
          <a:xfrm>
            <a:off x="640080" y="548640"/>
            <a:ext cx="10972800" cy="5760720"/>
          </a:xfrm>
          <a:prstGeom prst="rect">
            <a:avLst/>
          </a:prstGeom>
          <a:noFill/>
        </p:spPr>
        <p:txBody>
          <a:bodyPr wrap="square">
            <a:spAutoFit/>
          </a:bodyPr>
          <a:lstStyle/>
          <a:p>
            <a:pPr>
              <a:spcAft>
                <a:spcPts val="1800"/>
              </a:spcAft>
            </a:pPr>
            <a:r>
              <a:rPr sz="4400" b="1" i="0">
                <a:solidFill>
                  <a:srgbClr val="6EA8FE"/>
                </a:solidFill>
                <a:latin typeface="Helvetica Neue"/>
              </a:rPr>
              <a:t>Code is a lossy projection</a:t>
            </a:r>
          </a:p>
          <a:p>
            <a:pPr>
              <a:spcAft>
                <a:spcPts val="400"/>
              </a:spcAft>
            </a:pPr>
          </a:p>
          <a:p>
            <a:pPr>
              <a:spcAft>
                <a:spcPts val="800"/>
              </a:spcAft>
            </a:pPr>
            <a:r>
              <a:rPr sz="2600" b="0" i="0">
                <a:solidFill>
                  <a:srgbClr val="EAECEF"/>
                </a:solidFill>
                <a:latin typeface="Helvetica Neue"/>
              </a:rPr>
              <a:t>Decompile a C binary —</a:t>
            </a:r>
          </a:p>
          <a:p>
            <a:pPr>
              <a:spcAft>
                <a:spcPts val="800"/>
              </a:spcAft>
            </a:pPr>
            <a:r>
              <a:rPr sz="2600" b="0" i="0">
                <a:solidFill>
                  <a:srgbClr val="EAECEF"/>
                </a:solidFill>
                <a:latin typeface="Helvetica Neue"/>
              </a:rPr>
              <a:t>no comments, no variable names, no </a:t>
            </a:r>
            <a:r>
              <a:rPr sz="2600" b="1" i="0">
                <a:solidFill>
                  <a:srgbClr val="6EA8FE"/>
                </a:solidFill>
                <a:latin typeface="Helvetica Neue"/>
              </a:rPr>
              <a:t>why</a:t>
            </a:r>
            <a:r>
              <a:rPr sz="2600" b="0" i="0">
                <a:solidFill>
                  <a:srgbClr val="EAECEF"/>
                </a:solidFill>
                <a:latin typeface="Helvetica Neue"/>
              </a:rPr>
              <a:t>.</a:t>
            </a:r>
          </a:p>
          <a:p>
            <a:pPr>
              <a:spcAft>
                <a:spcPts val="400"/>
              </a:spcAft>
            </a:pPr>
          </a:p>
          <a:p>
            <a:pPr>
              <a:spcAft>
                <a:spcPts val="800"/>
              </a:spcAft>
            </a:pPr>
            <a:r>
              <a:rPr sz="2600" b="0" i="0">
                <a:solidFill>
                  <a:srgbClr val="EAECEF"/>
                </a:solidFill>
                <a:latin typeface="Helvetica Neue"/>
              </a:rPr>
              <a:t>Code never carries full intent.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0141F"/>
        </a:solidFill>
        <a:effectLst/>
      </p:bgPr>
    </p:bg>
    <p:spTree>
      <p:nvGrpSpPr>
        <p:cNvPr id="1" name=""/>
        <p:cNvGrpSpPr/>
        <p:nvPr/>
      </p:nvGrpSpPr>
      <p:grpSpPr/>
      <p:sp>
        <p:nvSpPr>
          <p:cNvPr id="2" name="TextBox 1"/>
          <p:cNvSpPr txBox="1"/>
          <p:nvPr/>
        </p:nvSpPr>
        <p:spPr>
          <a:xfrm>
            <a:off x="640080" y="548640"/>
            <a:ext cx="10972800" cy="5760720"/>
          </a:xfrm>
          <a:prstGeom prst="rect">
            <a:avLst/>
          </a:prstGeom>
          <a:noFill/>
        </p:spPr>
        <p:txBody>
          <a:bodyPr wrap="square">
            <a:spAutoFit/>
          </a:bodyPr>
          <a:lstStyle/>
          <a:p>
            <a:pPr>
              <a:spcAft>
                <a:spcPts val="1800"/>
              </a:spcAft>
            </a:pPr>
            <a:r>
              <a:rPr sz="4400" b="1" i="0">
                <a:solidFill>
                  <a:srgbClr val="6EA8FE"/>
                </a:solidFill>
                <a:latin typeface="Helvetica Neue"/>
              </a:rPr>
              <a:t>A robust spec compiles to many things</a:t>
            </a:r>
          </a:p>
          <a:p>
            <a:pPr>
              <a:spcAft>
                <a:spcPts val="400"/>
              </a:spcAft>
            </a:pPr>
          </a:p>
          <a:p>
            <a:pPr>
              <a:spcAft>
                <a:spcPts val="800"/>
              </a:spcAft>
            </a:pPr>
            <a:r>
              <a:rPr sz="2600" b="0" i="0">
                <a:solidFill>
                  <a:srgbClr val="EAECEF"/>
                </a:solidFill>
                <a:latin typeface="Helvetica Neue"/>
              </a:rPr>
              <a:t>TypeScript · Rust</a:t>
            </a:r>
          </a:p>
          <a:p>
            <a:pPr>
              <a:spcAft>
                <a:spcPts val="800"/>
              </a:spcAft>
            </a:pPr>
            <a:r>
              <a:rPr sz="2600" b="0" i="0">
                <a:solidFill>
                  <a:srgbClr val="EAECEF"/>
                </a:solidFill>
                <a:latin typeface="Helvetica Neue"/>
              </a:rPr>
              <a:t>servers · clients</a:t>
            </a:r>
          </a:p>
          <a:p>
            <a:pPr>
              <a:spcAft>
                <a:spcPts val="800"/>
              </a:spcAft>
            </a:pPr>
            <a:r>
              <a:rPr sz="2600" b="0" i="0">
                <a:solidFill>
                  <a:srgbClr val="EAECEF"/>
                </a:solidFill>
                <a:latin typeface="Helvetica Neue"/>
              </a:rPr>
              <a:t>docs · tutorials · </a:t>
            </a:r>
            <a:r>
              <a:rPr sz="2600" b="1" i="0">
                <a:solidFill>
                  <a:srgbClr val="6EA8FE"/>
                </a:solidFill>
                <a:latin typeface="Helvetica Neue"/>
              </a:rPr>
              <a:t>podcasts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0141F"/>
        </a:solidFill>
        <a:effectLst/>
      </p:bgPr>
    </p:bg>
    <p:spTree>
      <p:nvGrpSpPr>
        <p:cNvPr id="1" name=""/>
        <p:cNvGrpSpPr/>
        <p:nvPr/>
      </p:nvGrpSpPr>
      <p:grpSpPr/>
      <p:sp>
        <p:nvSpPr>
          <p:cNvPr id="2" name="TextBox 1"/>
          <p:cNvSpPr txBox="1"/>
          <p:nvPr/>
        </p:nvSpPr>
        <p:spPr>
          <a:xfrm>
            <a:off x="640080" y="548640"/>
            <a:ext cx="10972800" cy="5760720"/>
          </a:xfrm>
          <a:prstGeom prst="rect">
            <a:avLst/>
          </a:prstGeom>
          <a:noFill/>
        </p:spPr>
        <p:txBody>
          <a:bodyPr wrap="square">
            <a:spAutoFit/>
          </a:bodyPr>
          <a:lstStyle/>
          <a:p>
            <a:pPr>
              <a:spcAft>
                <a:spcPts val="1800"/>
              </a:spcAft>
            </a:pPr>
            <a:r>
              <a:rPr sz="4400" b="1" i="0">
                <a:solidFill>
                  <a:srgbClr val="6EA8FE"/>
                </a:solidFill>
                <a:latin typeface="Helvetica Neue"/>
              </a:rPr>
              <a:t>The OpenAI Model Spec</a:t>
            </a:r>
          </a:p>
          <a:p>
            <a:pPr>
              <a:spcAft>
                <a:spcPts val="400"/>
              </a:spcAft>
            </a:pPr>
          </a:p>
          <a:p>
            <a:pPr>
              <a:spcAft>
                <a:spcPts val="800"/>
              </a:spcAft>
            </a:pPr>
            <a:r>
              <a:rPr sz="2600" b="0" i="0">
                <a:solidFill>
                  <a:srgbClr val="EAECEF"/>
                </a:solidFill>
                <a:latin typeface="Helvetica Neue"/>
              </a:rPr>
              <a:t>A living document of intent and values.</a:t>
            </a:r>
          </a:p>
          <a:p>
            <a:pPr>
              <a:spcAft>
                <a:spcPts val="400"/>
              </a:spcAft>
            </a:pPr>
          </a:p>
          <a:p>
            <a:pPr>
              <a:spcAft>
                <a:spcPts val="600"/>
              </a:spcAft>
            </a:pPr>
            <a:r>
              <a:rPr sz="2000" b="0" i="1">
                <a:solidFill>
                  <a:srgbClr val="9AA3B2"/>
                </a:solidFill>
                <a:latin typeface="Helvetica Neue"/>
              </a:rPr>
              <a:t>Open-sourced. Just markdown.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0141F"/>
        </a:solidFill>
        <a:effectLst/>
      </p:bgPr>
    </p:bg>
    <p:spTree>
      <p:nvGrpSpPr>
        <p:cNvPr id="1" name=""/>
        <p:cNvGrpSpPr/>
        <p:nvPr/>
      </p:nvGrpSpPr>
      <p:grpSpPr/>
      <p:sp>
        <p:nvSpPr>
          <p:cNvPr id="2" name="TextBox 1"/>
          <p:cNvSpPr txBox="1"/>
          <p:nvPr/>
        </p:nvSpPr>
        <p:spPr>
          <a:xfrm>
            <a:off x="640080" y="548640"/>
            <a:ext cx="10972800" cy="5760720"/>
          </a:xfrm>
          <a:prstGeom prst="rect">
            <a:avLst/>
          </a:prstGeom>
          <a:noFill/>
        </p:spPr>
        <p:txBody>
          <a:bodyPr wrap="square">
            <a:spAutoFit/>
          </a:bodyPr>
          <a:lstStyle/>
          <a:p>
            <a:pPr>
              <a:spcAft>
                <a:spcPts val="1800"/>
              </a:spcAft>
            </a:pPr>
            <a:r>
              <a:rPr sz="4400" b="1" i="0">
                <a:solidFill>
                  <a:srgbClr val="6EA8FE"/>
                </a:solidFill>
                <a:latin typeface="Helvetica Neue"/>
              </a:rPr>
              <a:t>Why markdown matters</a:t>
            </a:r>
          </a:p>
          <a:p>
            <a:pPr>
              <a:spcAft>
                <a:spcPts val="400"/>
              </a:spcAft>
            </a:pPr>
          </a:p>
          <a:p>
            <a:pPr>
              <a:spcAft>
                <a:spcPts val="800"/>
              </a:spcAft>
            </a:pPr>
            <a:r>
              <a:rPr sz="2400" b="0" i="0">
                <a:solidFill>
                  <a:srgbClr val="EAECEF"/>
                </a:solidFill>
                <a:latin typeface="Helvetica Neue"/>
              </a:rPr>
              <a:t>•  Human-readable</a:t>
            </a:r>
          </a:p>
          <a:p>
            <a:pPr>
              <a:spcAft>
                <a:spcPts val="800"/>
              </a:spcAft>
            </a:pPr>
            <a:r>
              <a:rPr sz="2400" b="0" i="0">
                <a:solidFill>
                  <a:srgbClr val="EAECEF"/>
                </a:solidFill>
                <a:latin typeface="Helvetica Neue"/>
              </a:rPr>
              <a:t>•  Versioned</a:t>
            </a:r>
          </a:p>
          <a:p>
            <a:pPr>
              <a:spcAft>
                <a:spcPts val="800"/>
              </a:spcAft>
            </a:pPr>
            <a:r>
              <a:rPr sz="2400" b="0" i="0">
                <a:solidFill>
                  <a:srgbClr val="EAECEF"/>
                </a:solidFill>
                <a:latin typeface="Helvetica Neue"/>
              </a:rPr>
              <a:t>•  Change-logged</a:t>
            </a:r>
          </a:p>
          <a:p>
            <a:pPr>
              <a:spcAft>
                <a:spcPts val="800"/>
              </a:spcAft>
            </a:pPr>
            <a:r>
              <a:rPr sz="2400" b="0" i="0">
                <a:solidFill>
                  <a:srgbClr val="EAECEF"/>
                </a:solidFill>
                <a:latin typeface="Helvetica Neue"/>
              </a:rPr>
              <a:t>•  Anyone can contribute</a:t>
            </a:r>
          </a:p>
          <a:p>
            <a:pPr>
              <a:spcAft>
                <a:spcPts val="400"/>
              </a:spcAft>
            </a:pPr>
          </a:p>
          <a:p>
            <a:pPr>
              <a:spcAft>
                <a:spcPts val="800"/>
              </a:spcAft>
            </a:pPr>
            <a:r>
              <a:rPr sz="2600" b="0" i="0">
                <a:solidFill>
                  <a:srgbClr val="EAECEF"/>
                </a:solidFill>
                <a:latin typeface="Helvetica Neue"/>
              </a:rPr>
              <a:t>Product · design · engineering · QA — not just one team.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0141F"/>
        </a:solidFill>
        <a:effectLst/>
      </p:bgPr>
    </p:bg>
    <p:spTree>
      <p:nvGrpSpPr>
        <p:cNvPr id="1" name=""/>
        <p:cNvGrpSpPr/>
        <p:nvPr/>
      </p:nvGrpSpPr>
      <p:grpSpPr/>
      <p:sp>
        <p:nvSpPr>
          <p:cNvPr id="2" name="TextBox 1"/>
          <p:cNvSpPr txBox="1"/>
          <p:nvPr/>
        </p:nvSpPr>
        <p:spPr>
          <a:xfrm>
            <a:off x="640080" y="548640"/>
            <a:ext cx="10972800" cy="5760720"/>
          </a:xfrm>
          <a:prstGeom prst="rect">
            <a:avLst/>
          </a:prstGeom>
          <a:noFill/>
        </p:spPr>
        <p:txBody>
          <a:bodyPr wrap="square">
            <a:spAutoFit/>
          </a:bodyPr>
          <a:lstStyle/>
          <a:p>
            <a:pPr>
              <a:spcAft>
                <a:spcPts val="1800"/>
              </a:spcAft>
            </a:pPr>
            <a:r>
              <a:rPr sz="4400" b="1" i="0">
                <a:solidFill>
                  <a:srgbClr val="6EA8FE"/>
                </a:solidFill>
                <a:latin typeface="Helvetica Neue"/>
              </a:rPr>
              <a:t>Each clause is testable</a:t>
            </a:r>
          </a:p>
          <a:p>
            <a:pPr>
              <a:spcAft>
                <a:spcPts val="400"/>
              </a:spcAft>
            </a:pPr>
          </a:p>
          <a:p>
            <a:pPr>
              <a:spcAft>
                <a:spcPts val="800"/>
              </a:spcAft>
            </a:pPr>
            <a:r>
              <a:rPr sz="2600" b="0" i="0">
                <a:solidFill>
                  <a:srgbClr val="EAECEF"/>
                </a:solidFill>
                <a:latin typeface="Helvetica Neue"/>
              </a:rPr>
              <a:t>Every clause has an </a:t>
            </a:r>
            <a:r>
              <a:rPr sz="2600" b="1" i="0">
                <a:solidFill>
                  <a:srgbClr val="6EA8FE"/>
                </a:solidFill>
                <a:latin typeface="Helvetica Neue"/>
              </a:rPr>
              <a:t>ID</a:t>
            </a:r>
            <a:r>
              <a:rPr sz="2600" b="0" i="0">
                <a:solidFill>
                  <a:srgbClr val="EAECEF"/>
                </a:solidFill>
                <a:latin typeface="Helvetica Neue"/>
              </a:rPr>
              <a:t>.</a:t>
            </a:r>
          </a:p>
          <a:p>
            <a:pPr>
              <a:spcAft>
                <a:spcPts val="400"/>
              </a:spcAft>
            </a:pPr>
          </a:p>
          <a:p>
            <a:pPr>
              <a:spcAft>
                <a:spcPts val="800"/>
              </a:spcAft>
            </a:pPr>
            <a:r>
              <a:rPr sz="2600" b="0" i="0">
                <a:solidFill>
                  <a:srgbClr val="EAECEF"/>
                </a:solidFill>
                <a:latin typeface="Helvetica Neue"/>
              </a:rPr>
              <a:t>Each ID has a paired file of </a:t>
            </a:r>
            <a:r>
              <a:rPr sz="2600" b="1" i="0">
                <a:solidFill>
                  <a:srgbClr val="6EA8FE"/>
                </a:solidFill>
                <a:latin typeface="Helvetica Neue"/>
              </a:rPr>
              <a:t>challenge prompts</a:t>
            </a:r>
            <a:r>
              <a:rPr sz="2600" b="0" i="0">
                <a:solidFill>
                  <a:srgbClr val="EAECEF"/>
                </a:solidFill>
                <a:latin typeface="Helvetica Neue"/>
              </a:rPr>
              <a:t>.</a:t>
            </a:r>
          </a:p>
          <a:p>
            <a:pPr>
              <a:spcAft>
                <a:spcPts val="400"/>
              </a:spcAft>
            </a:pPr>
          </a:p>
          <a:p>
            <a:pPr>
              <a:spcAft>
                <a:spcPts val="800"/>
              </a:spcAft>
            </a:pPr>
            <a:r>
              <a:rPr sz="2600" b="0" i="0">
                <a:solidFill>
                  <a:srgbClr val="EAECEF"/>
                </a:solidFill>
                <a:latin typeface="Helvetica Neue"/>
              </a:rPr>
              <a:t>The spec </a:t>
            </a:r>
            <a:r>
              <a:rPr sz="2600" b="1" i="0">
                <a:solidFill>
                  <a:srgbClr val="6EA8FE"/>
                </a:solidFill>
                <a:latin typeface="Helvetica Neue"/>
              </a:rPr>
              <a:t>encodes its own success criteria</a:t>
            </a:r>
            <a:r>
              <a:rPr sz="2600" b="0" i="0">
                <a:solidFill>
                  <a:srgbClr val="EAECEF"/>
                </a:solidFill>
                <a:latin typeface="Helvetica Neue"/>
              </a:rPr>
              <a: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0141F"/>
        </a:solidFill>
        <a:effectLst/>
      </p:bgPr>
    </p:bg>
    <p:spTree>
      <p:nvGrpSpPr>
        <p:cNvPr id="1" name=""/>
        <p:cNvGrpSpPr/>
        <p:nvPr/>
      </p:nvGrpSpPr>
      <p:grpSpPr/>
      <p:sp>
        <p:nvSpPr>
          <p:cNvPr id="2" name="TextBox 1"/>
          <p:cNvSpPr txBox="1"/>
          <p:nvPr/>
        </p:nvSpPr>
        <p:spPr>
          <a:xfrm>
            <a:off x="640080" y="548640"/>
            <a:ext cx="10972800" cy="5760720"/>
          </a:xfrm>
          <a:prstGeom prst="rect">
            <a:avLst/>
          </a:prstGeom>
          <a:noFill/>
        </p:spPr>
        <p:txBody>
          <a:bodyPr wrap="square">
            <a:spAutoFit/>
          </a:bodyPr>
          <a:lstStyle/>
          <a:p>
            <a:pPr>
              <a:spcAft>
                <a:spcPts val="1800"/>
              </a:spcAft>
            </a:pPr>
            <a:r>
              <a:rPr sz="4400" b="1" i="0">
                <a:solidFill>
                  <a:srgbClr val="6EA8FE"/>
                </a:solidFill>
                <a:latin typeface="Helvetica Neue"/>
              </a:rPr>
              <a:t>Spec as training and eval material</a:t>
            </a:r>
          </a:p>
          <a:p>
            <a:pPr>
              <a:spcAft>
                <a:spcPts val="400"/>
              </a:spcAft>
            </a:pPr>
          </a:p>
          <a:p>
            <a:pPr>
              <a:spcAft>
                <a:spcPts val="800"/>
              </a:spcAft>
            </a:pPr>
            <a:r>
              <a:rPr sz="2600" b="0" i="0">
                <a:solidFill>
                  <a:srgbClr val="EAECEF"/>
                </a:solidFill>
                <a:latin typeface="Helvetica Neue"/>
              </a:rPr>
              <a:t>Sample model → grader scores against spec → reinforce.</a:t>
            </a:r>
          </a:p>
          <a:p>
            <a:pPr>
              <a:spcAft>
                <a:spcPts val="400"/>
              </a:spcAft>
            </a:pPr>
          </a:p>
          <a:p>
            <a:pPr>
              <a:spcAft>
                <a:spcPts val="800"/>
              </a:spcAft>
            </a:pPr>
            <a:r>
              <a:rPr sz="2600" b="0" i="0">
                <a:solidFill>
                  <a:srgbClr val="EAECEF"/>
                </a:solidFill>
                <a:latin typeface="Helvetica Neue"/>
              </a:rPr>
              <a:t>Policy moves </a:t>
            </a:r>
            <a:r>
              <a:rPr sz="2600" b="1" i="0">
                <a:solidFill>
                  <a:srgbClr val="6EA8FE"/>
                </a:solidFill>
                <a:latin typeface="Helvetica Neue"/>
              </a:rPr>
              <a:t>from the prompt into the weights</a:t>
            </a:r>
            <a:r>
              <a:rPr sz="2600" b="0" i="0">
                <a:solidFill>
                  <a:srgbClr val="EAECEF"/>
                </a:solidFill>
                <a:latin typeface="Helvetica Neue"/>
              </a:rPr>
              <a: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0141F"/>
        </a:solidFill>
        <a:effectLst/>
      </p:bgPr>
    </p:bg>
    <p:spTree>
      <p:nvGrpSpPr>
        <p:cNvPr id="1" name=""/>
        <p:cNvGrpSpPr/>
        <p:nvPr/>
      </p:nvGrpSpPr>
      <p:grpSpPr/>
      <p:sp>
        <p:nvSpPr>
          <p:cNvPr id="2" name="TextBox 1"/>
          <p:cNvSpPr txBox="1"/>
          <p:nvPr/>
        </p:nvSpPr>
        <p:spPr>
          <a:xfrm>
            <a:off x="640080" y="548640"/>
            <a:ext cx="10972800" cy="5760720"/>
          </a:xfrm>
          <a:prstGeom prst="rect">
            <a:avLst/>
          </a:prstGeom>
          <a:noFill/>
        </p:spPr>
        <p:txBody>
          <a:bodyPr wrap="square">
            <a:spAutoFit/>
          </a:bodyPr>
          <a:lstStyle/>
          <a:p>
            <a:pPr>
              <a:spcAft>
                <a:spcPts val="1800"/>
              </a:spcAft>
            </a:pPr>
            <a:r>
              <a:rPr sz="4400" b="1" i="0">
                <a:solidFill>
                  <a:srgbClr val="6EA8FE"/>
                </a:solidFill>
                <a:latin typeface="Helvetica Neue"/>
              </a:rPr>
              <a:t>Case study: 4o sycophancy</a:t>
            </a:r>
          </a:p>
          <a:p>
            <a:pPr>
              <a:spcAft>
                <a:spcPts val="400"/>
              </a:spcAft>
            </a:pPr>
          </a:p>
          <a:p>
            <a:pPr>
              <a:spcAft>
                <a:spcPts val="800"/>
              </a:spcAft>
            </a:pPr>
            <a:r>
              <a:rPr sz="2600" b="0" i="0">
                <a:solidFill>
                  <a:srgbClr val="EAECEF"/>
                </a:solidFill>
                <a:latin typeface="Helvetica Neue"/>
              </a:rPr>
              <a:t>A 4o update shipped extreme sycophancy.</a:t>
            </a:r>
          </a:p>
          <a:p>
            <a:pPr>
              <a:spcAft>
                <a:spcPts val="400"/>
              </a:spcAft>
            </a:pPr>
          </a:p>
          <a:p>
            <a:pPr>
              <a:spcAft>
                <a:spcPts val="800"/>
              </a:spcAft>
            </a:pPr>
            <a:r>
              <a:rPr sz="2600" b="0" i="0">
                <a:solidFill>
                  <a:srgbClr val="EAECEF"/>
                </a:solidFill>
                <a:latin typeface="Helvetica Neue"/>
              </a:rPr>
              <a:t>The model praised users for </a:t>
            </a:r>
            <a:r>
              <a:rPr sz="2600" b="1" i="0">
                <a:solidFill>
                  <a:srgbClr val="6EA8FE"/>
                </a:solidFill>
                <a:latin typeface="Helvetica Neue"/>
              </a:rPr>
              <a:t>calling it sycophantic</a:t>
            </a:r>
            <a:r>
              <a:rPr sz="2600" b="0" i="0">
                <a:solidFill>
                  <a:srgbClr val="EAECEF"/>
                </a:solidFill>
                <a:latin typeface="Helvetica Neue"/>
              </a:rPr>
              <a: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0141F"/>
        </a:solidFill>
        <a:effectLst/>
      </p:bgPr>
    </p:bg>
    <p:spTree>
      <p:nvGrpSpPr>
        <p:cNvPr id="1" name=""/>
        <p:cNvGrpSpPr/>
        <p:nvPr/>
      </p:nvGrpSpPr>
      <p:grpSpPr/>
      <p:sp>
        <p:nvSpPr>
          <p:cNvPr id="2" name="TextBox 1"/>
          <p:cNvSpPr txBox="1"/>
          <p:nvPr/>
        </p:nvSpPr>
        <p:spPr>
          <a:xfrm>
            <a:off x="640080" y="548640"/>
            <a:ext cx="10972800" cy="5760720"/>
          </a:xfrm>
          <a:prstGeom prst="rect">
            <a:avLst/>
          </a:prstGeom>
          <a:noFill/>
        </p:spPr>
        <p:txBody>
          <a:bodyPr wrap="square">
            <a:spAutoFit/>
          </a:bodyPr>
          <a:lstStyle/>
          <a:p>
            <a:pPr>
              <a:spcAft>
                <a:spcPts val="1800"/>
              </a:spcAft>
            </a:pPr>
            <a:r>
              <a:rPr sz="4400" b="1" i="0">
                <a:solidFill>
                  <a:srgbClr val="6EA8FE"/>
                </a:solidFill>
                <a:latin typeface="Helvetica Neue"/>
              </a:rPr>
              <a:t>Bug, not debate</a:t>
            </a:r>
          </a:p>
          <a:p>
            <a:pPr>
              <a:spcAft>
                <a:spcPts val="400"/>
              </a:spcAft>
            </a:pPr>
          </a:p>
          <a:p>
            <a:pPr>
              <a:spcAft>
                <a:spcPts val="800"/>
              </a:spcAft>
            </a:pPr>
            <a:r>
              <a:rPr sz="2600" b="0" i="0">
                <a:solidFill>
                  <a:srgbClr val="EAECEF"/>
                </a:solidFill>
                <a:latin typeface="Helvetica Neue"/>
              </a:rPr>
              <a:t>The spec already said:</a:t>
            </a:r>
          </a:p>
          <a:p>
            <a:pPr>
              <a:spcAft>
                <a:spcPts val="400"/>
              </a:spcAft>
            </a:pPr>
          </a:p>
          <a:p>
            <a:pPr>
              <a:spcAft>
                <a:spcPts val="1000"/>
              </a:spcAft>
            </a:pPr>
            <a:r>
              <a:rPr sz="2800" b="0" i="1">
                <a:solidFill>
                  <a:srgbClr val="6EA8FE"/>
                </a:solidFill>
                <a:latin typeface="Helvetica Neue"/>
              </a:rPr>
              <a:t>“Don't be sycophantic.”</a:t>
            </a:r>
          </a:p>
          <a:p>
            <a:pPr>
              <a:spcAft>
                <a:spcPts val="400"/>
              </a:spcAft>
            </a:pPr>
          </a:p>
          <a:p>
            <a:pPr>
              <a:spcAft>
                <a:spcPts val="800"/>
              </a:spcAft>
            </a:pPr>
            <a:r>
              <a:rPr sz="2600" b="0" i="0">
                <a:solidFill>
                  <a:srgbClr val="EAECEF"/>
                </a:solidFill>
                <a:latin typeface="Helvetica Neue"/>
              </a:rPr>
              <a:t>So the rollback was unambiguous.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0141F"/>
        </a:solidFill>
        <a:effectLst/>
      </p:bgPr>
    </p:bg>
    <p:spTree>
      <p:nvGrpSpPr>
        <p:cNvPr id="1" name=""/>
        <p:cNvGrpSpPr/>
        <p:nvPr/>
      </p:nvGrpSpPr>
      <p:grpSpPr/>
      <p:sp>
        <p:nvSpPr>
          <p:cNvPr id="2" name="TextBox 1"/>
          <p:cNvSpPr txBox="1"/>
          <p:nvPr/>
        </p:nvSpPr>
        <p:spPr>
          <a:xfrm>
            <a:off x="640080" y="548640"/>
            <a:ext cx="10972800" cy="5760720"/>
          </a:xfrm>
          <a:prstGeom prst="rect">
            <a:avLst/>
          </a:prstGeom>
          <a:noFill/>
        </p:spPr>
        <p:txBody>
          <a:bodyPr wrap="square">
            <a:spAutoFit/>
          </a:bodyPr>
          <a:lstStyle/>
          <a:p>
            <a:pPr>
              <a:spcAft>
                <a:spcPts val="1800"/>
              </a:spcAft>
            </a:pPr>
            <a:r>
              <a:rPr sz="4400" b="1" i="0">
                <a:solidFill>
                  <a:srgbClr val="6EA8FE"/>
                </a:solidFill>
                <a:latin typeface="Helvetica Neue"/>
              </a:rPr>
              <a:t>The spec as trust anchor</a:t>
            </a:r>
          </a:p>
          <a:p>
            <a:pPr>
              <a:spcAft>
                <a:spcPts val="400"/>
              </a:spcAft>
            </a:pPr>
          </a:p>
          <a:p>
            <a:pPr>
              <a:spcAft>
                <a:spcPts val="800"/>
              </a:spcAft>
            </a:pPr>
            <a:r>
              <a:rPr sz="2600" b="0" i="0">
                <a:solidFill>
                  <a:srgbClr val="EAECEF"/>
                </a:solidFill>
                <a:latin typeface="Helvetica Neue"/>
              </a:rPr>
              <a:t>Aligns humans on what to expect.</a:t>
            </a:r>
          </a:p>
          <a:p>
            <a:pPr>
              <a:spcAft>
                <a:spcPts val="400"/>
              </a:spcAft>
            </a:pPr>
          </a:p>
          <a:p>
            <a:pPr>
              <a:spcAft>
                <a:spcPts val="800"/>
              </a:spcAft>
            </a:pPr>
            <a:r>
              <a:rPr sz="2600" b="0" i="0">
                <a:solidFill>
                  <a:srgbClr val="EAECEF"/>
                </a:solidFill>
                <a:latin typeface="Helvetica Neue"/>
              </a:rPr>
              <a:t>Aligns models on what to produce.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0141F"/>
        </a:solidFill>
        <a:effectLst/>
      </p:bgPr>
    </p:bg>
    <p:spTree>
      <p:nvGrpSpPr>
        <p:cNvPr id="1" name=""/>
        <p:cNvGrpSpPr/>
        <p:nvPr/>
      </p:nvGrpSpPr>
      <p:grpSpPr/>
      <p:sp>
        <p:nvSpPr>
          <p:cNvPr id="2" name="TextBox 1"/>
          <p:cNvSpPr txBox="1"/>
          <p:nvPr/>
        </p:nvSpPr>
        <p:spPr>
          <a:xfrm>
            <a:off x="640080" y="548640"/>
            <a:ext cx="10972800" cy="5760720"/>
          </a:xfrm>
          <a:prstGeom prst="rect">
            <a:avLst/>
          </a:prstGeom>
          <a:noFill/>
        </p:spPr>
        <p:txBody>
          <a:bodyPr wrap="square">
            <a:spAutoFit/>
          </a:bodyPr>
          <a:lstStyle/>
          <a:p>
            <a:pPr>
              <a:spcAft>
                <a:spcPts val="1800"/>
              </a:spcAft>
            </a:pPr>
            <a:r>
              <a:rPr sz="4400" b="1" i="0">
                <a:solidFill>
                  <a:srgbClr val="6EA8FE"/>
                </a:solidFill>
                <a:latin typeface="Helvetica Neue"/>
              </a:rPr>
              <a:t>Specs are code (for intent)</a:t>
            </a:r>
          </a:p>
          <a:p>
            <a:pPr>
              <a:spcAft>
                <a:spcPts val="400"/>
              </a:spcAft>
            </a:pPr>
          </a:p>
          <a:p>
            <a:pPr>
              <a:spcAft>
                <a:spcPts val="800"/>
              </a:spcAft>
            </a:pPr>
            <a:r>
              <a:rPr sz="2600" b="0" i="0">
                <a:solidFill>
                  <a:srgbClr val="EAECEF"/>
                </a:solidFill>
                <a:latin typeface="Helvetica Neue"/>
              </a:rPr>
              <a:t>They </a:t>
            </a:r>
            <a:r>
              <a:rPr sz="2600" b="1" i="0">
                <a:solidFill>
                  <a:srgbClr val="6EA8FE"/>
                </a:solidFill>
                <a:latin typeface="Helvetica Neue"/>
              </a:rPr>
              <a:t>compose</a:t>
            </a:r>
            <a:r>
              <a:rPr sz="2600" b="0" i="0">
                <a:solidFill>
                  <a:srgbClr val="EAECEF"/>
                </a:solidFill>
                <a:latin typeface="Helvetica Neue"/>
              </a:rPr>
              <a:t>, are </a:t>
            </a:r>
            <a:r>
              <a:rPr sz="2600" b="1" i="0">
                <a:solidFill>
                  <a:srgbClr val="6EA8FE"/>
                </a:solidFill>
                <a:latin typeface="Helvetica Neue"/>
              </a:rPr>
              <a:t>executable</a:t>
            </a:r>
            <a:r>
              <a:rPr sz="2600" b="0" i="0">
                <a:solidFill>
                  <a:srgbClr val="EAECEF"/>
                </a:solidFill>
                <a:latin typeface="Helvetica Neue"/>
              </a:rPr>
              <a:t>,</a:t>
            </a:r>
          </a:p>
          <a:p>
            <a:pPr>
              <a:spcAft>
                <a:spcPts val="800"/>
              </a:spcAft>
            </a:pPr>
            <a:r>
              <a:rPr sz="2600" b="1" i="0">
                <a:solidFill>
                  <a:srgbClr val="6EA8FE"/>
                </a:solidFill>
                <a:latin typeface="Helvetica Neue"/>
              </a:rPr>
              <a:t>testable</a:t>
            </a:r>
            <a:r>
              <a:rPr sz="2600" b="0" i="0">
                <a:solidFill>
                  <a:srgbClr val="EAECEF"/>
                </a:solidFill>
                <a:latin typeface="Helvetica Neue"/>
              </a:rPr>
              <a:t>, and </a:t>
            </a:r>
            <a:r>
              <a:rPr sz="2600" b="1" i="0">
                <a:solidFill>
                  <a:srgbClr val="6EA8FE"/>
                </a:solidFill>
                <a:latin typeface="Helvetica Neue"/>
              </a:rPr>
              <a:t>shippable as modules</a:t>
            </a:r>
            <a:r>
              <a:rPr sz="2600" b="0" i="0">
                <a:solidFill>
                  <a:srgbClr val="EAECEF"/>
                </a:solidFill>
                <a:latin typeface="Helvetica Neue"/>
              </a:rPr>
              <a: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0141F"/>
        </a:solidFill>
        <a:effectLst/>
      </p:bgPr>
    </p:bg>
    <p:spTree>
      <p:nvGrpSpPr>
        <p:cNvPr id="1" name=""/>
        <p:cNvGrpSpPr/>
        <p:nvPr/>
      </p:nvGrpSpPr>
      <p:grpSpPr/>
      <p:sp>
        <p:nvSpPr>
          <p:cNvPr id="2" name="TextBox 1"/>
          <p:cNvSpPr txBox="1"/>
          <p:nvPr/>
        </p:nvSpPr>
        <p:spPr>
          <a:xfrm>
            <a:off x="640080" y="365760"/>
            <a:ext cx="10972800" cy="914400"/>
          </a:xfrm>
          <a:prstGeom prst="rect">
            <a:avLst/>
          </a:prstGeom>
          <a:noFill/>
        </p:spPr>
        <p:txBody>
          <a:bodyPr wrap="square">
            <a:spAutoFit/>
          </a:bodyPr>
          <a:lstStyle/>
          <a:p>
            <a:r>
              <a:rPr sz="4000" b="1" i="0">
                <a:solidFill>
                  <a:srgbClr val="6EA8FE"/>
                </a:solidFill>
                <a:latin typeface="Helvetica Neue"/>
              </a:rPr>
              <a:t>The spec tool chain</a:t>
            </a:r>
          </a:p>
        </p:txBody>
      </p:sp>
      <p:graphicFrame>
        <p:nvGraphicFramePr>
          <p:cNvPr id="3" name="Table 2"/>
          <p:cNvGraphicFramePr>
            <a:graphicFrameLocks noGrp="1"/>
          </p:cNvGraphicFramePr>
          <p:nvPr/>
        </p:nvGraphicFramePr>
        <p:xfrm>
          <a:off x="640080" y="1554480"/>
          <a:ext cx="10972800" cy="2926080"/>
        </p:xfrm>
        <a:graphic>
          <a:graphicData uri="http://schemas.openxmlformats.org/drawingml/2006/table">
            <a:tbl>
              <a:tblPr firstRow="1" bandRow="1">
                <a:tableStyleId>{5C22544A-7EE6-4342-B048-85BDC9FD1C3A}</a:tableStyleId>
              </a:tblPr>
              <a:tblGrid>
                <a:gridCol w="5486400"/>
                <a:gridCol w="5486400"/>
              </a:tblGrid>
              <a:tr h="585216">
                <a:tc>
                  <a:txBody>
                    <a:bodyPr wrap="square"/>
                    <a:lstStyle/>
                    <a:p>
                      <a:r>
                        <a:rPr sz="2000" b="1" i="0">
                          <a:solidFill>
                            <a:srgbClr val="6EA8FE"/>
                          </a:solidFill>
                          <a:latin typeface="Helvetica Neue"/>
                        </a:rPr>
                        <a:t>Code</a:t>
                      </a:r>
                    </a:p>
                  </a:txBody>
                  <a:tcPr>
                    <a:solidFill>
                      <a:srgbClr val="2A354D"/>
                    </a:solidFill>
                  </a:tcPr>
                </a:tc>
                <a:tc>
                  <a:txBody>
                    <a:bodyPr wrap="square"/>
                    <a:lstStyle/>
                    <a:p>
                      <a:r>
                        <a:rPr sz="2000" b="1" i="0">
                          <a:solidFill>
                            <a:srgbClr val="6EA8FE"/>
                          </a:solidFill>
                          <a:latin typeface="Helvetica Neue"/>
                        </a:rPr>
                        <a:t>Spec</a:t>
                      </a:r>
                    </a:p>
                  </a:txBody>
                  <a:tcPr>
                    <a:solidFill>
                      <a:srgbClr val="2A354D"/>
                    </a:solidFill>
                  </a:tcPr>
                </a:tc>
              </a:tr>
              <a:tr h="585216">
                <a:tc>
                  <a:txBody>
                    <a:bodyPr wrap="square"/>
                    <a:lstStyle/>
                    <a:p>
                      <a:r>
                        <a:rPr sz="2000" b="0" i="0">
                          <a:solidFill>
                            <a:srgbClr val="EAECEF"/>
                          </a:solidFill>
                          <a:latin typeface="Helvetica Neue"/>
                        </a:rPr>
                        <a:t>Type checker</a:t>
                      </a:r>
                    </a:p>
                  </a:txBody>
                  <a:tcPr>
                    <a:solidFill>
                      <a:srgbClr val="1A202C"/>
                    </a:solidFill>
                  </a:tcPr>
                </a:tc>
                <a:tc>
                  <a:txBody>
                    <a:bodyPr wrap="square"/>
                    <a:lstStyle/>
                    <a:p>
                      <a:r>
                        <a:rPr sz="2000" b="0" i="0">
                          <a:solidFill>
                            <a:srgbClr val="EAECEF"/>
                          </a:solidFill>
                          <a:latin typeface="Helvetica Neue"/>
                        </a:rPr>
                        <a:t>Cross-team consistency</a:t>
                      </a:r>
                    </a:p>
                  </a:txBody>
                  <a:tcPr>
                    <a:solidFill>
                      <a:srgbClr val="1A202C"/>
                    </a:solidFill>
                  </a:tcPr>
                </a:tc>
              </a:tr>
              <a:tr h="585216">
                <a:tc>
                  <a:txBody>
                    <a:bodyPr wrap="square"/>
                    <a:lstStyle/>
                    <a:p>
                      <a:r>
                        <a:rPr sz="2000" b="0" i="0">
                          <a:solidFill>
                            <a:srgbClr val="EAECEF"/>
                          </a:solidFill>
                          <a:latin typeface="Helvetica Neue"/>
                        </a:rPr>
                        <a:t>Linter</a:t>
                      </a:r>
                    </a:p>
                  </a:txBody>
                  <a:tcPr>
                    <a:solidFill>
                      <a:srgbClr val="1A202C"/>
                    </a:solidFill>
                  </a:tcPr>
                </a:tc>
                <a:tc>
                  <a:txBody>
                    <a:bodyPr wrap="square"/>
                    <a:lstStyle/>
                    <a:p>
                      <a:r>
                        <a:rPr sz="2000" b="0" i="0">
                          <a:solidFill>
                            <a:srgbClr val="EAECEF"/>
                          </a:solidFill>
                          <a:latin typeface="Helvetica Neue"/>
                        </a:rPr>
                        <a:t>Ambiguity detector</a:t>
                      </a:r>
                    </a:p>
                  </a:txBody>
                  <a:tcPr>
                    <a:solidFill>
                      <a:srgbClr val="1A202C"/>
                    </a:solidFill>
                  </a:tcPr>
                </a:tc>
              </a:tr>
              <a:tr h="585216">
                <a:tc>
                  <a:txBody>
                    <a:bodyPr wrap="square"/>
                    <a:lstStyle/>
                    <a:p>
                      <a:r>
                        <a:rPr sz="2000" b="0" i="0">
                          <a:solidFill>
                            <a:srgbClr val="EAECEF"/>
                          </a:solidFill>
                          <a:latin typeface="Helvetica Neue"/>
                        </a:rPr>
                        <a:t>Unit tests</a:t>
                      </a:r>
                    </a:p>
                  </a:txBody>
                  <a:tcPr>
                    <a:solidFill>
                      <a:srgbClr val="1A202C"/>
                    </a:solidFill>
                  </a:tcPr>
                </a:tc>
                <a:tc>
                  <a:txBody>
                    <a:bodyPr wrap="square"/>
                    <a:lstStyle/>
                    <a:p>
                      <a:r>
                        <a:rPr sz="2000" b="0" i="0">
                          <a:solidFill>
                            <a:srgbClr val="EAECEF"/>
                          </a:solidFill>
                          <a:latin typeface="Helvetica Neue"/>
                        </a:rPr>
                        <a:t>Challenge prompts</a:t>
                      </a:r>
                    </a:p>
                  </a:txBody>
                  <a:tcPr>
                    <a:solidFill>
                      <a:srgbClr val="1A202C"/>
                    </a:solidFill>
                  </a:tcPr>
                </a:tc>
              </a:tr>
              <a:tr h="585216">
                <a:tc>
                  <a:txBody>
                    <a:bodyPr wrap="square"/>
                    <a:lstStyle/>
                    <a:p>
                      <a:r>
                        <a:rPr sz="2000" b="0" i="0">
                          <a:solidFill>
                            <a:srgbClr val="EAECEF"/>
                          </a:solidFill>
                          <a:latin typeface="Helvetica Neue"/>
                        </a:rPr>
                        <a:t>Compiler</a:t>
                      </a:r>
                    </a:p>
                  </a:txBody>
                  <a:tcPr>
                    <a:solidFill>
                      <a:srgbClr val="1A202C"/>
                    </a:solidFill>
                  </a:tcPr>
                </a:tc>
                <a:tc>
                  <a:txBody>
                    <a:bodyPr wrap="square"/>
                    <a:lstStyle/>
                    <a:p>
                      <a:r>
                        <a:rPr sz="2000" b="0" i="0">
                          <a:solidFill>
                            <a:srgbClr val="EAECEF"/>
                          </a:solidFill>
                          <a:latin typeface="Helvetica Neue"/>
                        </a:rPr>
                        <a:t>Model + alignment training</a:t>
                      </a:r>
                    </a:p>
                  </a:txBody>
                  <a:tcPr>
                    <a:solidFill>
                      <a:srgbClr val="1A202C"/>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0141F"/>
        </a:solidFill>
        <a:effectLst/>
      </p:bgPr>
    </p:bg>
    <p:spTree>
      <p:nvGrpSpPr>
        <p:cNvPr id="1" name=""/>
        <p:cNvGrpSpPr/>
        <p:nvPr/>
      </p:nvGrpSpPr>
      <p:grpSpPr/>
      <p:sp>
        <p:nvSpPr>
          <p:cNvPr id="2" name="TextBox 1"/>
          <p:cNvSpPr txBox="1"/>
          <p:nvPr/>
        </p:nvSpPr>
        <p:spPr>
          <a:xfrm>
            <a:off x="640080" y="548640"/>
            <a:ext cx="10972800" cy="5760720"/>
          </a:xfrm>
          <a:prstGeom prst="rect">
            <a:avLst/>
          </a:prstGeom>
          <a:noFill/>
        </p:spPr>
        <p:txBody>
          <a:bodyPr wrap="square">
            <a:spAutoFit/>
          </a:bodyPr>
          <a:lstStyle/>
          <a:p>
            <a:pPr>
              <a:spcAft>
                <a:spcPts val="1800"/>
              </a:spcAft>
            </a:pPr>
            <a:r>
              <a:rPr sz="4400" b="1" i="0">
                <a:solidFill>
                  <a:srgbClr val="6EA8FE"/>
                </a:solidFill>
                <a:latin typeface="Helvetica Neue"/>
              </a:rPr>
              <a:t>Everyone on the team is a spec author</a:t>
            </a:r>
          </a:p>
          <a:p>
            <a:pPr>
              <a:spcAft>
                <a:spcPts val="400"/>
              </a:spcAft>
            </a:pPr>
          </a:p>
          <a:p>
            <a:pPr>
              <a:spcAft>
                <a:spcPts val="800"/>
              </a:spcAft>
            </a:pPr>
            <a:r>
              <a:rPr sz="2400" b="0" i="0">
                <a:solidFill>
                  <a:srgbClr val="EAECEF"/>
                </a:solidFill>
                <a:latin typeface="Helvetica Neue"/>
              </a:rPr>
              <a:t>•  **Engineers** → technical design docs</a:t>
            </a:r>
          </a:p>
          <a:p>
            <a:pPr>
              <a:spcAft>
                <a:spcPts val="800"/>
              </a:spcAft>
            </a:pPr>
            <a:r>
              <a:rPr sz="2400" b="0" i="0">
                <a:solidFill>
                  <a:srgbClr val="EAECEF"/>
                </a:solidFill>
                <a:latin typeface="Helvetica Neue"/>
              </a:rPr>
              <a:t>•  **PMs** → product requirements</a:t>
            </a:r>
          </a:p>
          <a:p>
            <a:pPr>
              <a:spcAft>
                <a:spcPts val="800"/>
              </a:spcAft>
            </a:pPr>
            <a:r>
              <a:rPr sz="2400" b="0" i="0">
                <a:solidFill>
                  <a:srgbClr val="EAECEF"/>
                </a:solidFill>
                <a:latin typeface="Helvetica Neue"/>
              </a:rPr>
              <a:t>•  **UX designers** → wireframes &amp; flows</a:t>
            </a:r>
          </a:p>
          <a:p>
            <a:pPr>
              <a:spcAft>
                <a:spcPts val="800"/>
              </a:spcAft>
            </a:pPr>
            <a:r>
              <a:rPr sz="2400" b="0" i="0">
                <a:solidFill>
                  <a:srgbClr val="EAECEF"/>
                </a:solidFill>
                <a:latin typeface="Helvetica Neue"/>
              </a:rPr>
              <a:t>•  **QA** → test plans &amp; acceptance criteria</a:t>
            </a:r>
          </a:p>
          <a:p>
            <a:pPr>
              <a:spcAft>
                <a:spcPts val="800"/>
              </a:spcAft>
            </a:pPr>
            <a:r>
              <a:rPr sz="2400" b="0" i="0">
                <a:solidFill>
                  <a:srgbClr val="EAECEF"/>
                </a:solidFill>
                <a:latin typeface="Helvetica Neue"/>
              </a:rPr>
              <a:t>•  **Prompters** → model prompts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0141F"/>
        </a:solidFill>
        <a:effectLst/>
      </p:bgPr>
    </p:bg>
    <p:spTree>
      <p:nvGrpSpPr>
        <p:cNvPr id="1" name=""/>
        <p:cNvGrpSpPr/>
        <p:nvPr/>
      </p:nvGrpSpPr>
      <p:grpSpPr/>
      <p:sp>
        <p:nvSpPr>
          <p:cNvPr id="2" name="TextBox 1"/>
          <p:cNvSpPr txBox="1"/>
          <p:nvPr/>
        </p:nvSpPr>
        <p:spPr>
          <a:xfrm>
            <a:off x="640080" y="548640"/>
            <a:ext cx="10972800" cy="5760720"/>
          </a:xfrm>
          <a:prstGeom prst="rect">
            <a:avLst/>
          </a:prstGeom>
          <a:noFill/>
        </p:spPr>
        <p:txBody>
          <a:bodyPr wrap="square">
            <a:spAutoFit/>
          </a:bodyPr>
          <a:lstStyle/>
          <a:p>
            <a:pPr>
              <a:spcAft>
                <a:spcPts val="1800"/>
              </a:spcAft>
            </a:pPr>
            <a:r>
              <a:rPr sz="4400" b="1" i="0">
                <a:solidFill>
                  <a:srgbClr val="6EA8FE"/>
                </a:solidFill>
                <a:latin typeface="Helvetica Neue"/>
              </a:rPr>
              <a:t>Software engineering was never about code</a:t>
            </a:r>
          </a:p>
          <a:p>
            <a:pPr>
              <a:spcAft>
                <a:spcPts val="400"/>
              </a:spcAft>
            </a:pPr>
          </a:p>
          <a:p>
            <a:pPr>
              <a:spcAft>
                <a:spcPts val="1000"/>
              </a:spcAft>
            </a:pPr>
            <a:r>
              <a:rPr sz="2800" b="0" i="1">
                <a:solidFill>
                  <a:srgbClr val="6EA8FE"/>
                </a:solidFill>
                <a:latin typeface="Helvetica Neue"/>
              </a:rPr>
              <a:t>“Engineering is the precise exploration by humans of software solutions to human problems.”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0141F"/>
        </a:solidFill>
        <a:effectLst/>
      </p:bgPr>
    </p:bg>
    <p:spTree>
      <p:nvGrpSpPr>
        <p:cNvPr id="1" name=""/>
        <p:cNvGrpSpPr/>
        <p:nvPr/>
      </p:nvGrpSpPr>
      <p:grpSpPr/>
      <p:sp>
        <p:nvSpPr>
          <p:cNvPr id="2" name="TextBox 1"/>
          <p:cNvSpPr txBox="1"/>
          <p:nvPr/>
        </p:nvSpPr>
        <p:spPr>
          <a:xfrm>
            <a:off x="640080" y="548640"/>
            <a:ext cx="10972800" cy="5760720"/>
          </a:xfrm>
          <a:prstGeom prst="rect">
            <a:avLst/>
          </a:prstGeom>
          <a:noFill/>
        </p:spPr>
        <p:txBody>
          <a:bodyPr wrap="square">
            <a:spAutoFit/>
          </a:bodyPr>
          <a:lstStyle/>
          <a:p>
            <a:pPr>
              <a:spcAft>
                <a:spcPts val="1800"/>
              </a:spcAft>
            </a:pPr>
            <a:r>
              <a:rPr sz="4400" b="1" i="0">
                <a:solidFill>
                  <a:srgbClr val="6EA8FE"/>
                </a:solidFill>
                <a:latin typeface="Helvetica Neue"/>
              </a:rPr>
              <a:t>For your next AI feature</a:t>
            </a:r>
          </a:p>
          <a:p>
            <a:pPr>
              <a:spcAft>
                <a:spcPts val="400"/>
              </a:spcAft>
            </a:pPr>
          </a:p>
          <a:p>
            <a:pPr>
              <a:spcAft>
                <a:spcPts val="800"/>
              </a:spcAft>
            </a:pPr>
            <a:r>
              <a:rPr sz="2400" b="0" i="0">
                <a:solidFill>
                  <a:srgbClr val="EAECEF"/>
                </a:solidFill>
                <a:latin typeface="Helvetica Neue"/>
              </a:rPr>
              <a:t>•  Write the **spec first**</a:t>
            </a:r>
          </a:p>
          <a:p>
            <a:pPr>
              <a:spcAft>
                <a:spcPts val="800"/>
              </a:spcAft>
            </a:pPr>
            <a:r>
              <a:rPr sz="2400" b="0" i="0">
                <a:solidFill>
                  <a:srgbClr val="EAECEF"/>
                </a:solidFill>
                <a:latin typeface="Helvetica Neue"/>
              </a:rPr>
              <a:t>•  Define **success criteria**</a:t>
            </a:r>
          </a:p>
          <a:p>
            <a:pPr>
              <a:spcAft>
                <a:spcPts val="800"/>
              </a:spcAft>
            </a:pPr>
            <a:r>
              <a:rPr sz="2400" b="0" i="0">
                <a:solidFill>
                  <a:srgbClr val="EAECEF"/>
                </a:solidFill>
                <a:latin typeface="Helvetica Neue"/>
              </a:rPr>
              <a:t>•  Make it **executable**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0141F"/>
        </a:solidFill>
        <a:effectLst/>
      </p:bgPr>
    </p:bg>
    <p:spTree>
      <p:nvGrpSpPr>
        <p:cNvPr id="1" name=""/>
        <p:cNvGrpSpPr/>
        <p:nvPr/>
      </p:nvGrpSpPr>
      <p:grpSpPr/>
      <p:sp>
        <p:nvSpPr>
          <p:cNvPr id="2" name="TextBox 1"/>
          <p:cNvSpPr txBox="1"/>
          <p:nvPr/>
        </p:nvSpPr>
        <p:spPr>
          <a:xfrm>
            <a:off x="640080" y="548640"/>
            <a:ext cx="10972800" cy="5760720"/>
          </a:xfrm>
          <a:prstGeom prst="rect">
            <a:avLst/>
          </a:prstGeom>
          <a:noFill/>
        </p:spPr>
        <p:txBody>
          <a:bodyPr wrap="square">
            <a:spAutoFit/>
          </a:bodyPr>
          <a:lstStyle/>
          <a:p>
            <a:pPr>
              <a:spcAft>
                <a:spcPts val="1800"/>
              </a:spcAft>
            </a:pPr>
            <a:r>
              <a:rPr sz="4400" b="1" i="0">
                <a:solidFill>
                  <a:srgbClr val="6EA8FE"/>
                </a:solidFill>
                <a:latin typeface="Helvetica Neue"/>
              </a:rPr>
              <a:t>You don't have to do this alone</a:t>
            </a:r>
          </a:p>
          <a:p>
            <a:pPr>
              <a:spcAft>
                <a:spcPts val="400"/>
              </a:spcAft>
            </a:pPr>
          </a:p>
          <a:p>
            <a:pPr>
              <a:spcAft>
                <a:spcPts val="800"/>
              </a:spcAft>
            </a:pPr>
            <a:r>
              <a:rPr sz="2600" b="0" i="0">
                <a:solidFill>
                  <a:srgbClr val="EAECEF"/>
                </a:solidFill>
                <a:latin typeface="Helvetica Neue"/>
              </a:rPr>
              <a:t>A whole ecosystem of tools now exists</a:t>
            </a:r>
          </a:p>
          <a:p>
            <a:pPr>
              <a:spcAft>
                <a:spcPts val="800"/>
              </a:spcAft>
            </a:pPr>
            <a:r>
              <a:rPr sz="2600" b="0" i="0">
                <a:solidFill>
                  <a:srgbClr val="EAECEF"/>
                </a:solidFill>
                <a:latin typeface="Helvetica Neue"/>
              </a:rPr>
              <a:t>to help you write better specs.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0141F"/>
        </a:solidFill>
        <a:effectLst/>
      </p:bgPr>
    </p:bg>
    <p:spTree>
      <p:nvGrpSpPr>
        <p:cNvPr id="1" name=""/>
        <p:cNvGrpSpPr/>
        <p:nvPr/>
      </p:nvGrpSpPr>
      <p:grpSpPr/>
      <p:sp>
        <p:nvSpPr>
          <p:cNvPr id="2" name="TextBox 1"/>
          <p:cNvSpPr txBox="1"/>
          <p:nvPr/>
        </p:nvSpPr>
        <p:spPr>
          <a:xfrm>
            <a:off x="640080" y="365760"/>
            <a:ext cx="10972800" cy="914400"/>
          </a:xfrm>
          <a:prstGeom prst="rect">
            <a:avLst/>
          </a:prstGeom>
          <a:noFill/>
        </p:spPr>
        <p:txBody>
          <a:bodyPr wrap="square">
            <a:spAutoFit/>
          </a:bodyPr>
          <a:lstStyle/>
          <a:p>
            <a:r>
              <a:rPr sz="4000" b="1" i="0">
                <a:solidFill>
                  <a:srgbClr val="6EA8FE"/>
                </a:solidFill>
                <a:latin typeface="Helvetica Neue"/>
              </a:rPr>
              <a:t>The spec-driven tooling landscape</a:t>
            </a:r>
          </a:p>
        </p:txBody>
      </p:sp>
      <p:graphicFrame>
        <p:nvGraphicFramePr>
          <p:cNvPr id="3" name="Table 2"/>
          <p:cNvGraphicFramePr>
            <a:graphicFrameLocks noGrp="1"/>
          </p:cNvGraphicFramePr>
          <p:nvPr/>
        </p:nvGraphicFramePr>
        <p:xfrm>
          <a:off x="640080" y="1554480"/>
          <a:ext cx="10972800" cy="4023360"/>
        </p:xfrm>
        <a:graphic>
          <a:graphicData uri="http://schemas.openxmlformats.org/drawingml/2006/table">
            <a:tbl>
              <a:tblPr firstRow="1" bandRow="1">
                <a:tableStyleId>{5C22544A-7EE6-4342-B048-85BDC9FD1C3A}</a:tableStyleId>
              </a:tblPr>
              <a:tblGrid>
                <a:gridCol w="3657600"/>
                <a:gridCol w="3657600"/>
                <a:gridCol w="3657600"/>
              </a:tblGrid>
              <a:tr h="574765">
                <a:tc>
                  <a:txBody>
                    <a:bodyPr wrap="square"/>
                    <a:lstStyle/>
                    <a:p>
                      <a:r>
                        <a:rPr sz="2000" b="1" i="0">
                          <a:solidFill>
                            <a:srgbClr val="6EA8FE"/>
                          </a:solidFill>
                          <a:latin typeface="Helvetica Neue"/>
                        </a:rPr>
                        <a:t>Tool</a:t>
                      </a:r>
                    </a:p>
                  </a:txBody>
                  <a:tcPr>
                    <a:solidFill>
                      <a:srgbClr val="2A354D"/>
                    </a:solidFill>
                  </a:tcPr>
                </a:tc>
                <a:tc>
                  <a:txBody>
                    <a:bodyPr wrap="square"/>
                    <a:lstStyle/>
                    <a:p>
                      <a:r>
                        <a:rPr sz="2000" b="1" i="0">
                          <a:solidFill>
                            <a:srgbClr val="6EA8FE"/>
                          </a:solidFill>
                          <a:latin typeface="Helvetica Neue"/>
                        </a:rPr>
                        <a:t>Author</a:t>
                      </a:r>
                    </a:p>
                  </a:txBody>
                  <a:tcPr>
                    <a:solidFill>
                      <a:srgbClr val="2A354D"/>
                    </a:solidFill>
                  </a:tcPr>
                </a:tc>
                <a:tc>
                  <a:txBody>
                    <a:bodyPr wrap="square"/>
                    <a:lstStyle/>
                    <a:p>
                      <a:r>
                        <a:rPr sz="2000" b="1" i="0">
                          <a:solidFill>
                            <a:srgbClr val="6EA8FE"/>
                          </a:solidFill>
                          <a:latin typeface="Helvetica Neue"/>
                        </a:rPr>
                        <a:t>GitHub Stars</a:t>
                      </a:r>
                    </a:p>
                  </a:txBody>
                  <a:tcPr>
                    <a:solidFill>
                      <a:srgbClr val="2A354D"/>
                    </a:solidFill>
                  </a:tcPr>
                </a:tc>
              </a:tr>
              <a:tr h="574765">
                <a:tc>
                  <a:txBody>
                    <a:bodyPr wrap="square"/>
                    <a:lstStyle/>
                    <a:p>
                      <a:r>
                        <a:rPr sz="2000" b="0" i="0">
                          <a:solidFill>
                            <a:srgbClr val="EAECEF"/>
                          </a:solidFill>
                          <a:latin typeface="Helvetica Neue"/>
                        </a:rPr>
                        <a:t>superpowers</a:t>
                      </a:r>
                    </a:p>
                  </a:txBody>
                  <a:tcPr>
                    <a:solidFill>
                      <a:srgbClr val="1A202C"/>
                    </a:solidFill>
                  </a:tcPr>
                </a:tc>
                <a:tc>
                  <a:txBody>
                    <a:bodyPr wrap="square"/>
                    <a:lstStyle/>
                    <a:p>
                      <a:r>
                        <a:rPr sz="2000" b="0" i="0">
                          <a:solidFill>
                            <a:srgbClr val="EAECEF"/>
                          </a:solidFill>
                          <a:latin typeface="Helvetica Neue"/>
                        </a:rPr>
                        <a:t>obra (Jesse Vincent)</a:t>
                      </a:r>
                    </a:p>
                  </a:txBody>
                  <a:tcPr>
                    <a:solidFill>
                      <a:srgbClr val="1A202C"/>
                    </a:solidFill>
                  </a:tcPr>
                </a:tc>
                <a:tc>
                  <a:txBody>
                    <a:bodyPr wrap="square"/>
                    <a:lstStyle/>
                    <a:p>
                      <a:r>
                        <a:rPr sz="2000" b="0" i="0">
                          <a:solidFill>
                            <a:srgbClr val="EAECEF"/>
                          </a:solidFill>
                          <a:latin typeface="Helvetica Neue"/>
                        </a:rPr>
                        <a:t>~167,700</a:t>
                      </a:r>
                    </a:p>
                  </a:txBody>
                  <a:tcPr>
                    <a:solidFill>
                      <a:srgbClr val="1A202C"/>
                    </a:solidFill>
                  </a:tcPr>
                </a:tc>
              </a:tr>
              <a:tr h="574765">
                <a:tc>
                  <a:txBody>
                    <a:bodyPr wrap="square"/>
                    <a:lstStyle/>
                    <a:p>
                      <a:r>
                        <a:rPr sz="2000" b="0" i="0">
                          <a:solidFill>
                            <a:srgbClr val="EAECEF"/>
                          </a:solidFill>
                          <a:latin typeface="Helvetica Neue"/>
                        </a:rPr>
                        <a:t>spec-kit</a:t>
                      </a:r>
                    </a:p>
                  </a:txBody>
                  <a:tcPr>
                    <a:solidFill>
                      <a:srgbClr val="1A202C"/>
                    </a:solidFill>
                  </a:tcPr>
                </a:tc>
                <a:tc>
                  <a:txBody>
                    <a:bodyPr wrap="square"/>
                    <a:lstStyle/>
                    <a:p>
                      <a:r>
                        <a:rPr sz="2000" b="0" i="0">
                          <a:solidFill>
                            <a:srgbClr val="EAECEF"/>
                          </a:solidFill>
                          <a:latin typeface="Helvetica Neue"/>
                        </a:rPr>
                        <a:t>GitHub, Inc.</a:t>
                      </a:r>
                    </a:p>
                  </a:txBody>
                  <a:tcPr>
                    <a:solidFill>
                      <a:srgbClr val="1A202C"/>
                    </a:solidFill>
                  </a:tcPr>
                </a:tc>
                <a:tc>
                  <a:txBody>
                    <a:bodyPr wrap="square"/>
                    <a:lstStyle/>
                    <a:p>
                      <a:r>
                        <a:rPr sz="2000" b="0" i="0">
                          <a:solidFill>
                            <a:srgbClr val="EAECEF"/>
                          </a:solidFill>
                          <a:latin typeface="Helvetica Neue"/>
                        </a:rPr>
                        <a:t>~90,900</a:t>
                      </a:r>
                    </a:p>
                  </a:txBody>
                  <a:tcPr>
                    <a:solidFill>
                      <a:srgbClr val="1A202C"/>
                    </a:solidFill>
                  </a:tcPr>
                </a:tc>
              </a:tr>
              <a:tr h="574765">
                <a:tc>
                  <a:txBody>
                    <a:bodyPr wrap="square"/>
                    <a:lstStyle/>
                    <a:p>
                      <a:r>
                        <a:rPr sz="2000" b="0" i="0">
                          <a:solidFill>
                            <a:srgbClr val="EAECEF"/>
                          </a:solidFill>
                          <a:latin typeface="Helvetica Neue"/>
                        </a:rPr>
                        <a:t>BMAD-METHOD</a:t>
                      </a:r>
                    </a:p>
                  </a:txBody>
                  <a:tcPr>
                    <a:solidFill>
                      <a:srgbClr val="1A202C"/>
                    </a:solidFill>
                  </a:tcPr>
                </a:tc>
                <a:tc>
                  <a:txBody>
                    <a:bodyPr wrap="square"/>
                    <a:lstStyle/>
                    <a:p>
                      <a:r>
                        <a:rPr sz="2000" b="0" i="0">
                          <a:solidFill>
                            <a:srgbClr val="EAECEF"/>
                          </a:solidFill>
                          <a:latin typeface="Helvetica Neue"/>
                        </a:rPr>
                        <a:t>bmad-code-org</a:t>
                      </a:r>
                    </a:p>
                  </a:txBody>
                  <a:tcPr>
                    <a:solidFill>
                      <a:srgbClr val="1A202C"/>
                    </a:solidFill>
                  </a:tcPr>
                </a:tc>
                <a:tc>
                  <a:txBody>
                    <a:bodyPr wrap="square"/>
                    <a:lstStyle/>
                    <a:p>
                      <a:r>
                        <a:rPr sz="2000" b="0" i="0">
                          <a:solidFill>
                            <a:srgbClr val="EAECEF"/>
                          </a:solidFill>
                          <a:latin typeface="Helvetica Neue"/>
                        </a:rPr>
                        <a:t>~45,700</a:t>
                      </a:r>
                    </a:p>
                  </a:txBody>
                  <a:tcPr>
                    <a:solidFill>
                      <a:srgbClr val="1A202C"/>
                    </a:solidFill>
                  </a:tcPr>
                </a:tc>
              </a:tr>
              <a:tr h="574765">
                <a:tc>
                  <a:txBody>
                    <a:bodyPr wrap="square"/>
                    <a:lstStyle/>
                    <a:p>
                      <a:r>
                        <a:rPr sz="2000" b="0" i="0">
                          <a:solidFill>
                            <a:srgbClr val="EAECEF"/>
                          </a:solidFill>
                          <a:latin typeface="Helvetica Neue"/>
                        </a:rPr>
                        <a:t>OpenSpec</a:t>
                      </a:r>
                    </a:p>
                  </a:txBody>
                  <a:tcPr>
                    <a:solidFill>
                      <a:srgbClr val="1A202C"/>
                    </a:solidFill>
                  </a:tcPr>
                </a:tc>
                <a:tc>
                  <a:txBody>
                    <a:bodyPr wrap="square"/>
                    <a:lstStyle/>
                    <a:p>
                      <a:r>
                        <a:rPr sz="2000" b="0" i="0">
                          <a:solidFill>
                            <a:srgbClr val="EAECEF"/>
                          </a:solidFill>
                          <a:latin typeface="Helvetica Neue"/>
                        </a:rPr>
                        <a:t>Fission-AI</a:t>
                      </a:r>
                    </a:p>
                  </a:txBody>
                  <a:tcPr>
                    <a:solidFill>
                      <a:srgbClr val="1A202C"/>
                    </a:solidFill>
                  </a:tcPr>
                </a:tc>
                <a:tc>
                  <a:txBody>
                    <a:bodyPr wrap="square"/>
                    <a:lstStyle/>
                    <a:p>
                      <a:r>
                        <a:rPr sz="2000" b="0" i="0">
                          <a:solidFill>
                            <a:srgbClr val="EAECEF"/>
                          </a:solidFill>
                          <a:latin typeface="Helvetica Neue"/>
                        </a:rPr>
                        <a:t>~42,900</a:t>
                      </a:r>
                    </a:p>
                  </a:txBody>
                  <a:tcPr>
                    <a:solidFill>
                      <a:srgbClr val="1A202C"/>
                    </a:solidFill>
                  </a:tcPr>
                </a:tc>
              </a:tr>
              <a:tr h="574765">
                <a:tc>
                  <a:txBody>
                    <a:bodyPr wrap="square"/>
                    <a:lstStyle/>
                    <a:p>
                      <a:r>
                        <a:rPr sz="2000" b="0" i="0">
                          <a:solidFill>
                            <a:srgbClr val="EAECEF"/>
                          </a:solidFill>
                          <a:latin typeface="Helvetica Neue"/>
                        </a:rPr>
                        <a:t>agent-skills</a:t>
                      </a:r>
                    </a:p>
                  </a:txBody>
                  <a:tcPr>
                    <a:solidFill>
                      <a:srgbClr val="1A202C"/>
                    </a:solidFill>
                  </a:tcPr>
                </a:tc>
                <a:tc>
                  <a:txBody>
                    <a:bodyPr wrap="square"/>
                    <a:lstStyle/>
                    <a:p>
                      <a:r>
                        <a:rPr sz="2000" b="0" i="0">
                          <a:solidFill>
                            <a:srgbClr val="EAECEF"/>
                          </a:solidFill>
                          <a:latin typeface="Helvetica Neue"/>
                        </a:rPr>
                        <a:t>Addy Osmani</a:t>
                      </a:r>
                    </a:p>
                  </a:txBody>
                  <a:tcPr>
                    <a:solidFill>
                      <a:srgbClr val="1A202C"/>
                    </a:solidFill>
                  </a:tcPr>
                </a:tc>
                <a:tc>
                  <a:txBody>
                    <a:bodyPr wrap="square"/>
                    <a:lstStyle/>
                    <a:p>
                      <a:r>
                        <a:rPr sz="2000" b="0" i="0">
                          <a:solidFill>
                            <a:srgbClr val="EAECEF"/>
                          </a:solidFill>
                          <a:latin typeface="Helvetica Neue"/>
                        </a:rPr>
                        <a:t>~23,000</a:t>
                      </a:r>
                    </a:p>
                  </a:txBody>
                  <a:tcPr>
                    <a:solidFill>
                      <a:srgbClr val="1A202C"/>
                    </a:solidFill>
                  </a:tcPr>
                </a:tc>
              </a:tr>
              <a:tr h="574770">
                <a:tc>
                  <a:txBody>
                    <a:bodyPr wrap="square"/>
                    <a:lstStyle/>
                    <a:p>
                      <a:r>
                        <a:rPr sz="2000" b="0" i="0">
                          <a:solidFill>
                            <a:srgbClr val="EAECEF"/>
                          </a:solidFill>
                          <a:latin typeface="Helvetica Neue"/>
                        </a:rPr>
                        <a:t>maister</a:t>
                      </a:r>
                    </a:p>
                  </a:txBody>
                  <a:tcPr>
                    <a:solidFill>
                      <a:srgbClr val="1A202C"/>
                    </a:solidFill>
                  </a:tcPr>
                </a:tc>
                <a:tc>
                  <a:txBody>
                    <a:bodyPr wrap="square"/>
                    <a:lstStyle/>
                    <a:p>
                      <a:r>
                        <a:rPr sz="2000" b="0" i="0">
                          <a:solidFill>
                            <a:srgbClr val="EAECEF"/>
                          </a:solidFill>
                          <a:latin typeface="Helvetica Neue"/>
                        </a:rPr>
                        <a:t>SkillPanel</a:t>
                      </a:r>
                    </a:p>
                  </a:txBody>
                  <a:tcPr>
                    <a:solidFill>
                      <a:srgbClr val="1A202C"/>
                    </a:solidFill>
                  </a:tcPr>
                </a:tc>
                <a:tc>
                  <a:txBody>
                    <a:bodyPr wrap="square"/>
                    <a:lstStyle/>
                    <a:p>
                      <a:r>
                        <a:rPr sz="2000" b="0" i="0">
                          <a:solidFill>
                            <a:srgbClr val="EAECEF"/>
                          </a:solidFill>
                          <a:latin typeface="Helvetica Neue"/>
                        </a:rPr>
                        <a:t>~120</a:t>
                      </a:r>
                    </a:p>
                  </a:txBody>
                  <a:tcPr>
                    <a:solidFill>
                      <a:srgbClr val="1A202C"/>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0141F"/>
        </a:solidFill>
        <a:effectLst/>
      </p:bgPr>
    </p:bg>
    <p:spTree>
      <p:nvGrpSpPr>
        <p:cNvPr id="1" name=""/>
        <p:cNvGrpSpPr/>
        <p:nvPr/>
      </p:nvGrpSpPr>
      <p:grpSpPr/>
      <p:sp>
        <p:nvSpPr>
          <p:cNvPr id="2" name="TextBox 1"/>
          <p:cNvSpPr txBox="1"/>
          <p:nvPr/>
        </p:nvSpPr>
        <p:spPr>
          <a:xfrm>
            <a:off x="640080" y="548640"/>
            <a:ext cx="10972800" cy="5760720"/>
          </a:xfrm>
          <a:prstGeom prst="rect">
            <a:avLst/>
          </a:prstGeom>
          <a:noFill/>
        </p:spPr>
        <p:txBody>
          <a:bodyPr wrap="square">
            <a:spAutoFit/>
          </a:bodyPr>
          <a:lstStyle/>
          <a:p>
            <a:pPr>
              <a:spcAft>
                <a:spcPts val="1800"/>
              </a:spcAft>
            </a:pPr>
            <a:r>
              <a:rPr sz="4400" b="1" i="0">
                <a:solidFill>
                  <a:srgbClr val="6EA8FE"/>
                </a:solidFill>
                <a:latin typeface="Helvetica Neue"/>
              </a:rPr>
              <a:t>What is Superpowers?</a:t>
            </a:r>
          </a:p>
          <a:p>
            <a:pPr>
              <a:spcAft>
                <a:spcPts val="400"/>
              </a:spcAft>
            </a:pPr>
          </a:p>
          <a:p>
            <a:pPr>
              <a:spcAft>
                <a:spcPts val="1000"/>
              </a:spcAft>
            </a:pPr>
            <a:r>
              <a:rPr sz="2800" b="0" i="1">
                <a:solidFill>
                  <a:srgbClr val="6EA8FE"/>
                </a:solidFill>
                <a:latin typeface="Helvetica Neue"/>
              </a:rPr>
              <a:t>“An agentic skills framework”</a:t>
            </a:r>
          </a:p>
          <a:p>
            <a:pPr>
              <a:spcAft>
                <a:spcPts val="1000"/>
              </a:spcAft>
            </a:pPr>
            <a:r>
              <a:rPr sz="2800" b="0" i="1">
                <a:solidFill>
                  <a:srgbClr val="6EA8FE"/>
                </a:solidFill>
                <a:latin typeface="Helvetica Neue"/>
              </a:rPr>
              <a:t>“&amp; software development methodology that works.”</a:t>
            </a:r>
          </a:p>
          <a:p>
            <a:pPr>
              <a:spcAft>
                <a:spcPts val="800"/>
              </a:spcAft>
            </a:pPr>
            <a:r>
              <a:rPr sz="2600" b="0" i="0">
                <a:solidFill>
                  <a:srgbClr val="EAECEF"/>
                </a:solidFill>
                <a:latin typeface="Helvetica Neue"/>
              </a:rPr>
              <a:t>&gt;</a:t>
            </a:r>
          </a:p>
          <a:p>
            <a:pPr>
              <a:spcAft>
                <a:spcPts val="1000"/>
              </a:spcAft>
            </a:pPr>
            <a:r>
              <a:rPr sz="2800" b="0" i="1">
                <a:solidFill>
                  <a:srgbClr val="6EA8FE"/>
                </a:solidFill>
                <a:latin typeface="Helvetica Neue"/>
              </a:rPr>
              <a:t>“— Jesse Vincent (obra)”</a:t>
            </a:r>
          </a:p>
          <a:p>
            <a:pPr>
              <a:spcAft>
                <a:spcPts val="400"/>
              </a:spcAft>
            </a:pPr>
          </a:p>
          <a:p>
            <a:pPr>
              <a:spcAft>
                <a:spcPts val="800"/>
              </a:spcAft>
            </a:pPr>
            <a:r>
              <a:rPr sz="2600" b="0" i="0">
                <a:solidFill>
                  <a:srgbClr val="EAECEF"/>
                </a:solidFill>
                <a:latin typeface="Helvetica Neue"/>
              </a:rPr>
              <a:t>A plugin that gives your coding agent</a:t>
            </a:r>
          </a:p>
          <a:p>
            <a:pPr>
              <a:spcAft>
                <a:spcPts val="800"/>
              </a:spcAft>
            </a:pPr>
            <a:r>
              <a:rPr sz="2600" b="0" i="0">
                <a:solidFill>
                  <a:srgbClr val="EAECEF"/>
                </a:solidFill>
                <a:latin typeface="Helvetica Neue"/>
              </a:rPr>
              <a:t>a </a:t>
            </a:r>
            <a:r>
              <a:rPr sz="2600" b="1" i="0">
                <a:solidFill>
                  <a:srgbClr val="6EA8FE"/>
                </a:solidFill>
                <a:latin typeface="Helvetica Neue"/>
              </a:rPr>
              <a:t>methodology</a:t>
            </a:r>
            <a:r>
              <a:rPr sz="2600" b="0" i="0">
                <a:solidFill>
                  <a:srgbClr val="EAECEF"/>
                </a:solidFill>
                <a:latin typeface="Helvetica Neue"/>
              </a:rPr>
              <a:t>, not just tools.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0141F"/>
        </a:solidFill>
        <a:effectLst/>
      </p:bgPr>
    </p:bg>
    <p:spTree>
      <p:nvGrpSpPr>
        <p:cNvPr id="1" name=""/>
        <p:cNvGrpSpPr/>
        <p:nvPr/>
      </p:nvGrpSpPr>
      <p:grpSpPr/>
      <p:sp>
        <p:nvSpPr>
          <p:cNvPr id="2" name="TextBox 1"/>
          <p:cNvSpPr txBox="1"/>
          <p:nvPr/>
        </p:nvSpPr>
        <p:spPr>
          <a:xfrm>
            <a:off x="640080" y="548640"/>
            <a:ext cx="10972800" cy="5760720"/>
          </a:xfrm>
          <a:prstGeom prst="rect">
            <a:avLst/>
          </a:prstGeom>
          <a:noFill/>
        </p:spPr>
        <p:txBody>
          <a:bodyPr wrap="square">
            <a:spAutoFit/>
          </a:bodyPr>
          <a:lstStyle/>
          <a:p>
            <a:pPr>
              <a:spcAft>
                <a:spcPts val="1800"/>
              </a:spcAft>
            </a:pPr>
            <a:r>
              <a:rPr sz="4400" b="1" i="0">
                <a:solidFill>
                  <a:srgbClr val="6EA8FE"/>
                </a:solidFill>
                <a:latin typeface="Helvetica Neue"/>
              </a:rPr>
              <a:t>Install in one command</a:t>
            </a:r>
          </a:p>
          <a:p>
            <a:pPr>
              <a:spcAft>
                <a:spcPts val="400"/>
              </a:spcAft>
            </a:pPr>
          </a:p>
          <a:p>
            <a:pPr>
              <a:spcAft>
                <a:spcPts val="800"/>
              </a:spcAft>
            </a:pPr>
            <a:r>
              <a:rPr sz="2600" b="0" i="0">
                <a:solidFill>
                  <a:srgbClr val="EAECEF"/>
                </a:solidFill>
                <a:latin typeface="Helvetica Neue"/>
              </a:rPr>
              <a:t>/plugin install superpowers@claude-plugins-official</a:t>
            </a:r>
          </a:p>
          <a:p>
            <a:pPr>
              <a:spcAft>
                <a:spcPts val="400"/>
              </a:spcAft>
            </a:pPr>
          </a:p>
          <a:p>
            <a:pPr>
              <a:spcAft>
                <a:spcPts val="800"/>
              </a:spcAft>
            </a:pPr>
            <a:r>
              <a:rPr sz="2600" b="0" i="0">
                <a:solidFill>
                  <a:srgbClr val="EAECEF"/>
                </a:solidFill>
                <a:latin typeface="Helvetica Neue"/>
              </a:rPr>
              <a:t>Also available for Codex, Cursor, OpenCode,</a:t>
            </a:r>
          </a:p>
          <a:p>
            <a:pPr>
              <a:spcAft>
                <a:spcPts val="800"/>
              </a:spcAft>
            </a:pPr>
            <a:r>
              <a:rPr sz="2600" b="0" i="0">
                <a:solidFill>
                  <a:srgbClr val="EAECEF"/>
                </a:solidFill>
                <a:latin typeface="Helvetica Neue"/>
              </a:rPr>
              <a:t>Copilot CLI, and Gemini.</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0141F"/>
        </a:solidFill>
        <a:effectLst/>
      </p:bgPr>
    </p:bg>
    <p:spTree>
      <p:nvGrpSpPr>
        <p:cNvPr id="1" name=""/>
        <p:cNvGrpSpPr/>
        <p:nvPr/>
      </p:nvGrpSpPr>
      <p:grpSpPr/>
      <p:sp>
        <p:nvSpPr>
          <p:cNvPr id="2" name="TextBox 1"/>
          <p:cNvSpPr txBox="1"/>
          <p:nvPr/>
        </p:nvSpPr>
        <p:spPr>
          <a:xfrm>
            <a:off x="640080" y="548640"/>
            <a:ext cx="10972800" cy="5760720"/>
          </a:xfrm>
          <a:prstGeom prst="rect">
            <a:avLst/>
          </a:prstGeom>
          <a:noFill/>
        </p:spPr>
        <p:txBody>
          <a:bodyPr wrap="square">
            <a:spAutoFit/>
          </a:bodyPr>
          <a:lstStyle/>
          <a:p>
            <a:pPr>
              <a:spcAft>
                <a:spcPts val="1800"/>
              </a:spcAft>
            </a:pPr>
            <a:r>
              <a:rPr sz="4400" b="1" i="0">
                <a:solidFill>
                  <a:srgbClr val="6EA8FE"/>
                </a:solidFill>
                <a:latin typeface="Helvetica Neue"/>
              </a:rPr>
              <a:t>Step 1 — Brainstorm</a:t>
            </a:r>
          </a:p>
          <a:p>
            <a:pPr>
              <a:spcAft>
                <a:spcPts val="400"/>
              </a:spcAft>
            </a:pPr>
          </a:p>
          <a:p>
            <a:pPr>
              <a:spcAft>
                <a:spcPts val="800"/>
              </a:spcAft>
            </a:pPr>
            <a:r>
              <a:rPr sz="2600" b="0" i="0">
                <a:solidFill>
                  <a:srgbClr val="EAECEF"/>
                </a:solidFill>
                <a:latin typeface="Helvetica Neue"/>
              </a:rPr>
              <a:t>Agent </a:t>
            </a:r>
            <a:r>
              <a:rPr sz="2600" b="1" i="0">
                <a:solidFill>
                  <a:srgbClr val="6EA8FE"/>
                </a:solidFill>
                <a:latin typeface="Helvetica Neue"/>
              </a:rPr>
              <a:t>doesn't jump into code</a:t>
            </a:r>
            <a:r>
              <a:rPr sz="2600" b="0" i="0">
                <a:solidFill>
                  <a:srgbClr val="EAECEF"/>
                </a:solidFill>
                <a:latin typeface="Helvetica Neue"/>
              </a:rPr>
              <a:t>.</a:t>
            </a:r>
          </a:p>
          <a:p>
            <a:pPr>
              <a:spcAft>
                <a:spcPts val="400"/>
              </a:spcAft>
            </a:pPr>
          </a:p>
          <a:p>
            <a:pPr>
              <a:spcAft>
                <a:spcPts val="800"/>
              </a:spcAft>
            </a:pPr>
            <a:r>
              <a:rPr sz="2600" b="0" i="0">
                <a:solidFill>
                  <a:srgbClr val="EAECEF"/>
                </a:solidFill>
                <a:latin typeface="Helvetica Neue"/>
              </a:rPr>
              <a:t>It asks what you're really trying to do,</a:t>
            </a:r>
          </a:p>
          <a:p>
            <a:pPr>
              <a:spcAft>
                <a:spcPts val="800"/>
              </a:spcAft>
            </a:pPr>
            <a:r>
              <a:rPr sz="2600" b="0" i="0">
                <a:solidFill>
                  <a:srgbClr val="EAECEF"/>
                </a:solidFill>
                <a:latin typeface="Helvetica Neue"/>
              </a:rPr>
              <a:t>explores alternatives,</a:t>
            </a:r>
          </a:p>
          <a:p>
            <a:pPr>
              <a:spcAft>
                <a:spcPts val="800"/>
              </a:spcAft>
            </a:pPr>
            <a:r>
              <a:rPr sz="2600" b="0" i="0">
                <a:solidFill>
                  <a:srgbClr val="EAECEF"/>
                </a:solidFill>
                <a:latin typeface="Helvetica Neue"/>
              </a:rPr>
              <a:t>and produces a </a:t>
            </a:r>
            <a:r>
              <a:rPr sz="2600" b="1" i="0">
                <a:solidFill>
                  <a:srgbClr val="6EA8FE"/>
                </a:solidFill>
                <a:latin typeface="Helvetica Neue"/>
              </a:rPr>
              <a:t>design document</a:t>
            </a:r>
            <a:r>
              <a:rPr sz="2600" b="0" i="0">
                <a:solidFill>
                  <a:srgbClr val="EAECEF"/>
                </a:solidFill>
                <a:latin typeface="Helvetica Neue"/>
              </a:rPr>
              <a: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0141F"/>
        </a:solidFill>
        <a:effectLst/>
      </p:bgPr>
    </p:bg>
    <p:spTree>
      <p:nvGrpSpPr>
        <p:cNvPr id="1" name=""/>
        <p:cNvGrpSpPr/>
        <p:nvPr/>
      </p:nvGrpSpPr>
      <p:grpSpPr/>
      <p:sp>
        <p:nvSpPr>
          <p:cNvPr id="2" name="TextBox 1"/>
          <p:cNvSpPr txBox="1"/>
          <p:nvPr/>
        </p:nvSpPr>
        <p:spPr>
          <a:xfrm>
            <a:off x="640080" y="548640"/>
            <a:ext cx="10972800" cy="5760720"/>
          </a:xfrm>
          <a:prstGeom prst="rect">
            <a:avLst/>
          </a:prstGeom>
          <a:noFill/>
        </p:spPr>
        <p:txBody>
          <a:bodyPr wrap="square">
            <a:spAutoFit/>
          </a:bodyPr>
          <a:lstStyle/>
          <a:p>
            <a:pPr>
              <a:spcAft>
                <a:spcPts val="1800"/>
              </a:spcAft>
            </a:pPr>
            <a:r>
              <a:rPr sz="4400" b="1" i="0">
                <a:solidFill>
                  <a:srgbClr val="6EA8FE"/>
                </a:solidFill>
                <a:latin typeface="Helvetica Neue"/>
              </a:rPr>
              <a:t>Step 2 — Write the plan</a:t>
            </a:r>
          </a:p>
          <a:p>
            <a:pPr>
              <a:spcAft>
                <a:spcPts val="400"/>
              </a:spcAft>
            </a:pPr>
          </a:p>
          <a:p>
            <a:pPr>
              <a:spcAft>
                <a:spcPts val="800"/>
              </a:spcAft>
            </a:pPr>
            <a:r>
              <a:rPr sz="2600" b="0" i="0">
                <a:solidFill>
                  <a:srgbClr val="EAECEF"/>
                </a:solidFill>
                <a:latin typeface="Helvetica Neue"/>
              </a:rPr>
              <a:t>The design becomes a plan</a:t>
            </a:r>
          </a:p>
          <a:p>
            <a:pPr>
              <a:spcAft>
                <a:spcPts val="800"/>
              </a:spcAft>
            </a:pPr>
            <a:r>
              <a:rPr sz="2600" b="0" i="0">
                <a:solidFill>
                  <a:srgbClr val="EAECEF"/>
                </a:solidFill>
                <a:latin typeface="Helvetica Neue"/>
              </a:rPr>
              <a:t>of </a:t>
            </a:r>
            <a:r>
              <a:rPr sz="2600" b="1" i="0">
                <a:solidFill>
                  <a:srgbClr val="6EA8FE"/>
                </a:solidFill>
                <a:latin typeface="Helvetica Neue"/>
              </a:rPr>
              <a:t>2–5 minute tasks</a:t>
            </a:r>
            <a:r>
              <a:rPr sz="2600" b="0" i="0">
                <a:solidFill>
                  <a:srgbClr val="EAECEF"/>
                </a:solidFill>
                <a:latin typeface="Helvetica Neue"/>
              </a:rPr>
              <a:t>.</a:t>
            </a:r>
          </a:p>
          <a:p>
            <a:pPr>
              <a:spcAft>
                <a:spcPts val="400"/>
              </a:spcAft>
            </a:pPr>
          </a:p>
          <a:p>
            <a:pPr>
              <a:spcAft>
                <a:spcPts val="800"/>
              </a:spcAft>
            </a:pPr>
            <a:r>
              <a:rPr sz="2600" b="0" i="0">
                <a:solidFill>
                  <a:srgbClr val="EAECEF"/>
                </a:solidFill>
                <a:latin typeface="Helvetica Neue"/>
              </a:rPr>
              <a:t>Each task has:</a:t>
            </a:r>
          </a:p>
          <a:p>
            <a:pPr>
              <a:spcAft>
                <a:spcPts val="800"/>
              </a:spcAft>
            </a:pPr>
            <a:r>
              <a:rPr sz="2600" b="0" i="0">
                <a:solidFill>
                  <a:srgbClr val="EAECEF"/>
                </a:solidFill>
                <a:latin typeface="Helvetica Neue"/>
              </a:rPr>
              <a:t>exact file paths · complete code · verification steps.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0141F"/>
        </a:solidFill>
        <a:effectLst/>
      </p:bgPr>
    </p:bg>
    <p:spTree>
      <p:nvGrpSpPr>
        <p:cNvPr id="1" name=""/>
        <p:cNvGrpSpPr/>
        <p:nvPr/>
      </p:nvGrpSpPr>
      <p:grpSpPr/>
      <p:sp>
        <p:nvSpPr>
          <p:cNvPr id="2" name="TextBox 1"/>
          <p:cNvSpPr txBox="1"/>
          <p:nvPr/>
        </p:nvSpPr>
        <p:spPr>
          <a:xfrm>
            <a:off x="640080" y="548640"/>
            <a:ext cx="10972800" cy="5760720"/>
          </a:xfrm>
          <a:prstGeom prst="rect">
            <a:avLst/>
          </a:prstGeom>
          <a:noFill/>
        </p:spPr>
        <p:txBody>
          <a:bodyPr wrap="square">
            <a:spAutoFit/>
          </a:bodyPr>
          <a:lstStyle/>
          <a:p>
            <a:pPr>
              <a:spcAft>
                <a:spcPts val="1800"/>
              </a:spcAft>
            </a:pPr>
            <a:r>
              <a:rPr sz="4400" b="1" i="0">
                <a:solidFill>
                  <a:srgbClr val="6EA8FE"/>
                </a:solidFill>
                <a:latin typeface="Helvetica Neue"/>
              </a:rPr>
              <a:t>Step 3 — Subagent-driven execution</a:t>
            </a:r>
          </a:p>
          <a:p>
            <a:pPr>
              <a:spcAft>
                <a:spcPts val="400"/>
              </a:spcAft>
            </a:pPr>
          </a:p>
          <a:p>
            <a:pPr>
              <a:spcAft>
                <a:spcPts val="800"/>
              </a:spcAft>
            </a:pPr>
            <a:r>
              <a:rPr sz="2600" b="0" i="0">
                <a:solidFill>
                  <a:srgbClr val="EAECEF"/>
                </a:solidFill>
                <a:latin typeface="Helvetica Neue"/>
              </a:rPr>
              <a:t>A </a:t>
            </a:r>
            <a:r>
              <a:rPr sz="2600" b="1" i="0">
                <a:solidFill>
                  <a:srgbClr val="6EA8FE"/>
                </a:solidFill>
                <a:latin typeface="Helvetica Neue"/>
              </a:rPr>
              <a:t>fresh subagent per task</a:t>
            </a:r>
            <a:r>
              <a:rPr sz="2600" b="0" i="0">
                <a:solidFill>
                  <a:srgbClr val="EAECEF"/>
                </a:solidFill>
                <a:latin typeface="Helvetica Neue"/>
              </a:rPr>
              <a:t>.</a:t>
            </a:r>
          </a:p>
          <a:p>
            <a:pPr>
              <a:spcAft>
                <a:spcPts val="400"/>
              </a:spcAft>
            </a:pPr>
          </a:p>
          <a:p>
            <a:pPr>
              <a:spcAft>
                <a:spcPts val="800"/>
              </a:spcAft>
            </a:pPr>
            <a:r>
              <a:rPr sz="2600" b="0" i="0">
                <a:solidFill>
                  <a:srgbClr val="EAECEF"/>
                </a:solidFill>
                <a:latin typeface="Helvetica Neue"/>
              </a:rPr>
              <a:t>Two-stage review:</a:t>
            </a:r>
          </a:p>
          <a:p>
            <a:pPr>
              <a:spcAft>
                <a:spcPts val="800"/>
              </a:spcAft>
            </a:pPr>
            <a:r>
              <a:rPr sz="2600" b="1" i="0">
                <a:solidFill>
                  <a:srgbClr val="6EA8FE"/>
                </a:solidFill>
                <a:latin typeface="Helvetica Neue"/>
              </a:rPr>
              <a:t>spec compliance</a:t>
            </a:r>
            <a:r>
              <a:rPr sz="2600" b="0" i="0">
                <a:solidFill>
                  <a:srgbClr val="EAECEF"/>
                </a:solidFill>
                <a:latin typeface="Helvetica Neue"/>
              </a:rPr>
              <a:t> → </a:t>
            </a:r>
            <a:r>
              <a:rPr sz="2600" b="1" i="0">
                <a:solidFill>
                  <a:srgbClr val="6EA8FE"/>
                </a:solidFill>
                <a:latin typeface="Helvetica Neue"/>
              </a:rPr>
              <a:t>code quality</a:t>
            </a:r>
            <a:r>
              <a:rPr sz="2600" b="0" i="0">
                <a:solidFill>
                  <a:srgbClr val="EAECEF"/>
                </a:solidFill>
                <a:latin typeface="Helvetica Neue"/>
              </a:rPr>
              <a: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0141F"/>
        </a:solidFill>
        <a:effectLst/>
      </p:bgPr>
    </p:bg>
    <p:spTree>
      <p:nvGrpSpPr>
        <p:cNvPr id="1" name=""/>
        <p:cNvGrpSpPr/>
        <p:nvPr/>
      </p:nvGrpSpPr>
      <p:grpSpPr/>
      <p:sp>
        <p:nvSpPr>
          <p:cNvPr id="2" name="TextBox 1"/>
          <p:cNvSpPr txBox="1"/>
          <p:nvPr/>
        </p:nvSpPr>
        <p:spPr>
          <a:xfrm>
            <a:off x="640080" y="548640"/>
            <a:ext cx="10972800" cy="5760720"/>
          </a:xfrm>
          <a:prstGeom prst="rect">
            <a:avLst/>
          </a:prstGeom>
          <a:noFill/>
        </p:spPr>
        <p:txBody>
          <a:bodyPr wrap="square">
            <a:spAutoFit/>
          </a:bodyPr>
          <a:lstStyle/>
          <a:p>
            <a:pPr>
              <a:spcAft>
                <a:spcPts val="1800"/>
              </a:spcAft>
            </a:pPr>
            <a:r>
              <a:rPr sz="4400" b="1" i="0">
                <a:solidFill>
                  <a:srgbClr val="6EA8FE"/>
                </a:solidFill>
                <a:latin typeface="Helvetica Neue"/>
              </a:rPr>
              <a:t>Step 4 — TDD enforced</a:t>
            </a:r>
          </a:p>
          <a:p>
            <a:pPr>
              <a:spcAft>
                <a:spcPts val="400"/>
              </a:spcAft>
            </a:pPr>
          </a:p>
          <a:p>
            <a:pPr>
              <a:spcAft>
                <a:spcPts val="600"/>
              </a:spcAft>
            </a:pPr>
            <a:r>
              <a:rPr sz="2000" b="0" i="1">
                <a:solidFill>
                  <a:srgbClr val="9AA3B2"/>
                </a:solidFill>
                <a:latin typeface="Helvetica Neue"/>
              </a:rPr>
              <a:t>RED → GREEN → REFACTOR.</a:t>
            </a:r>
          </a:p>
          <a:p>
            <a:pPr>
              <a:spcAft>
                <a:spcPts val="400"/>
              </a:spcAft>
            </a:pPr>
          </a:p>
          <a:p>
            <a:pPr>
              <a:spcAft>
                <a:spcPts val="800"/>
              </a:spcAft>
            </a:pPr>
            <a:r>
              <a:rPr sz="2600" b="0" i="0">
                <a:solidFill>
                  <a:srgbClr val="EAECEF"/>
                </a:solidFill>
                <a:latin typeface="Helvetica Neue"/>
              </a:rPr>
              <a:t>Write failing test → watch it fail</a:t>
            </a:r>
          </a:p>
          <a:p>
            <a:pPr>
              <a:spcAft>
                <a:spcPts val="800"/>
              </a:spcAft>
            </a:pPr>
            <a:r>
              <a:rPr sz="2600" b="0" i="0">
                <a:solidFill>
                  <a:srgbClr val="EAECEF"/>
                </a:solidFill>
                <a:latin typeface="Helvetica Neue"/>
              </a:rPr>
              <a:t>→ minimal code → watch it pass.</a:t>
            </a:r>
          </a:p>
          <a:p>
            <a:pPr>
              <a:spcAft>
                <a:spcPts val="400"/>
              </a:spcAft>
            </a:pPr>
          </a:p>
          <a:p>
            <a:pPr>
              <a:spcAft>
                <a:spcPts val="800"/>
              </a:spcAft>
            </a:pPr>
            <a:r>
              <a:rPr sz="2600" b="0" i="0">
                <a:solidFill>
                  <a:srgbClr val="EAECEF"/>
                </a:solidFill>
                <a:latin typeface="Helvetica Neue"/>
              </a:rPr>
              <a:t>Code written before tests is </a:t>
            </a:r>
            <a:r>
              <a:rPr sz="2600" b="1" i="0">
                <a:solidFill>
                  <a:srgbClr val="6EA8FE"/>
                </a:solidFill>
                <a:latin typeface="Helvetica Neue"/>
              </a:rPr>
              <a:t>deleted</a:t>
            </a:r>
            <a:r>
              <a:rPr sz="2600" b="0" i="0">
                <a:solidFill>
                  <a:srgbClr val="EAECEF"/>
                </a:solidFill>
                <a:latin typeface="Helvetica Neue"/>
              </a:rPr>
              <a: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0141F"/>
        </a:solidFill>
        <a:effectLst/>
      </p:bgPr>
    </p:bg>
    <p:spTree>
      <p:nvGrpSpPr>
        <p:cNvPr id="1" name=""/>
        <p:cNvGrpSpPr/>
        <p:nvPr/>
      </p:nvGrpSpPr>
      <p:grpSpPr/>
      <p:sp>
        <p:nvSpPr>
          <p:cNvPr id="2" name="TextBox 1"/>
          <p:cNvSpPr txBox="1"/>
          <p:nvPr/>
        </p:nvSpPr>
        <p:spPr>
          <a:xfrm>
            <a:off x="640080" y="548640"/>
            <a:ext cx="10972800" cy="5760720"/>
          </a:xfrm>
          <a:prstGeom prst="rect">
            <a:avLst/>
          </a:prstGeom>
          <a:noFill/>
        </p:spPr>
        <p:txBody>
          <a:bodyPr wrap="square">
            <a:spAutoFit/>
          </a:bodyPr>
          <a:lstStyle/>
          <a:p>
            <a:pPr>
              <a:spcAft>
                <a:spcPts val="1800"/>
              </a:spcAft>
            </a:pPr>
            <a:r>
              <a:rPr sz="4400" b="1" i="0">
                <a:solidFill>
                  <a:srgbClr val="6EA8FE"/>
                </a:solidFill>
                <a:latin typeface="Helvetica Neue"/>
              </a:rPr>
              <a:t>Step 5 — Review and finish</a:t>
            </a:r>
          </a:p>
          <a:p>
            <a:pPr>
              <a:spcAft>
                <a:spcPts val="400"/>
              </a:spcAft>
            </a:pPr>
          </a:p>
          <a:p>
            <a:pPr>
              <a:spcAft>
                <a:spcPts val="800"/>
              </a:spcAft>
            </a:pPr>
            <a:r>
              <a:rPr sz="2400" b="0" i="0">
                <a:solidFill>
                  <a:srgbClr val="EAECEF"/>
                </a:solidFill>
                <a:latin typeface="Helvetica Neue"/>
              </a:rPr>
              <a:t>•  **requesting-code-review** between tasks</a:t>
            </a:r>
          </a:p>
          <a:p>
            <a:pPr>
              <a:spcAft>
                <a:spcPts val="800"/>
              </a:spcAft>
            </a:pPr>
            <a:r>
              <a:rPr sz="2400" b="0" i="0">
                <a:solidFill>
                  <a:srgbClr val="EAECEF"/>
                </a:solidFill>
                <a:latin typeface="Helvetica Neue"/>
              </a:rPr>
              <a:t>•  **systematic-debugging** for failures</a:t>
            </a:r>
          </a:p>
          <a:p>
            <a:pPr>
              <a:spcAft>
                <a:spcPts val="800"/>
              </a:spcAft>
            </a:pPr>
            <a:r>
              <a:rPr sz="2400" b="0" i="0">
                <a:solidFill>
                  <a:srgbClr val="EAECEF"/>
                </a:solidFill>
                <a:latin typeface="Helvetica Neue"/>
              </a:rPr>
              <a:t>•  **finishing-a-development-branch** to merge</a:t>
            </a:r>
          </a:p>
          <a:p>
            <a:pPr>
              <a:spcAft>
                <a:spcPts val="400"/>
              </a:spcAft>
            </a:pPr>
          </a:p>
          <a:p>
            <a:pPr>
              <a:spcAft>
                <a:spcPts val="800"/>
              </a:spcAft>
            </a:pPr>
            <a:r>
              <a:rPr sz="2600" b="0" i="0">
                <a:solidFill>
                  <a:srgbClr val="EAECEF"/>
                </a:solidFill>
                <a:latin typeface="Helvetica Neue"/>
              </a:rPr>
              <a:t>Worktrees keep it all isolated.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0141F"/>
        </a:solidFill>
        <a:effectLst/>
      </p:bgPr>
    </p:bg>
    <p:spTree>
      <p:nvGrpSpPr>
        <p:cNvPr id="1" name=""/>
        <p:cNvGrpSpPr/>
        <p:nvPr/>
      </p:nvGrpSpPr>
      <p:grpSpPr/>
      <p:sp>
        <p:nvSpPr>
          <p:cNvPr id="2" name="TextBox 1"/>
          <p:cNvSpPr txBox="1"/>
          <p:nvPr/>
        </p:nvSpPr>
        <p:spPr>
          <a:xfrm>
            <a:off x="640080" y="548640"/>
            <a:ext cx="10972800" cy="5760720"/>
          </a:xfrm>
          <a:prstGeom prst="rect">
            <a:avLst/>
          </a:prstGeom>
          <a:noFill/>
        </p:spPr>
        <p:txBody>
          <a:bodyPr wrap="square">
            <a:spAutoFit/>
          </a:bodyPr>
          <a:lstStyle/>
          <a:p>
            <a:pPr>
              <a:spcAft>
                <a:spcPts val="1800"/>
              </a:spcAft>
            </a:pPr>
            <a:r>
              <a:rPr sz="4400" b="1" i="0">
                <a:solidFill>
                  <a:srgbClr val="6EA8FE"/>
                </a:solidFill>
                <a:latin typeface="Helvetica Neue"/>
              </a:rPr>
              <a:t>Why this works</a:t>
            </a:r>
          </a:p>
          <a:p>
            <a:pPr>
              <a:spcAft>
                <a:spcPts val="400"/>
              </a:spcAft>
            </a:pPr>
          </a:p>
          <a:p>
            <a:pPr>
              <a:spcAft>
                <a:spcPts val="800"/>
              </a:spcAft>
            </a:pPr>
            <a:r>
              <a:rPr sz="2600" b="0" i="0">
                <a:solidFill>
                  <a:srgbClr val="EAECEF"/>
                </a:solidFill>
                <a:latin typeface="Helvetica Neue"/>
              </a:rPr>
              <a:t>The methodology </a:t>
            </a:r>
            <a:r>
              <a:rPr sz="2600" b="1" i="0">
                <a:solidFill>
                  <a:srgbClr val="6EA8FE"/>
                </a:solidFill>
                <a:latin typeface="Helvetica Neue"/>
              </a:rPr>
              <a:t>enforces spec-first</a:t>
            </a:r>
            <a:r>
              <a:rPr sz="2600" b="0" i="0">
                <a:solidFill>
                  <a:srgbClr val="EAECEF"/>
                </a:solidFill>
                <a:latin typeface="Helvetica Neue"/>
              </a:rPr>
              <a:t>.</a:t>
            </a:r>
          </a:p>
          <a:p>
            <a:pPr>
              <a:spcAft>
                <a:spcPts val="400"/>
              </a:spcAft>
            </a:pPr>
          </a:p>
          <a:p>
            <a:pPr>
              <a:spcAft>
                <a:spcPts val="800"/>
              </a:spcAft>
            </a:pPr>
            <a:r>
              <a:rPr sz="2600" b="0" i="0">
                <a:solidFill>
                  <a:srgbClr val="EAECEF"/>
                </a:solidFill>
                <a:latin typeface="Helvetica Neue"/>
              </a:rPr>
              <a:t>Skills trigger </a:t>
            </a:r>
            <a:r>
              <a:rPr sz="2600" b="1" i="0">
                <a:solidFill>
                  <a:srgbClr val="6EA8FE"/>
                </a:solidFill>
                <a:latin typeface="Helvetica Neue"/>
              </a:rPr>
              <a:t>automatically</a:t>
            </a:r>
            <a:r>
              <a:rPr sz="2600" b="0" i="0">
                <a:solidFill>
                  <a:srgbClr val="EAECEF"/>
                </a:solidFill>
                <a:latin typeface="Helvetica Neue"/>
              </a:rPr>
              <a:t> — no discipline required.</a:t>
            </a:r>
          </a:p>
          <a:p>
            <a:pPr>
              <a:spcAft>
                <a:spcPts val="400"/>
              </a:spcAft>
            </a:pPr>
          </a:p>
          <a:p>
            <a:pPr>
              <a:spcAft>
                <a:spcPts val="800"/>
              </a:spcAft>
            </a:pPr>
            <a:r>
              <a:rPr sz="2600" b="0" i="0">
                <a:solidFill>
                  <a:srgbClr val="EAECEF"/>
                </a:solidFill>
                <a:latin typeface="Helvetica Neue"/>
              </a:rPr>
              <a:t>The spec stays the </a:t>
            </a:r>
            <a:r>
              <a:rPr sz="2600" b="1" i="0">
                <a:solidFill>
                  <a:srgbClr val="6EA8FE"/>
                </a:solidFill>
                <a:latin typeface="Helvetica Neue"/>
              </a:rPr>
              <a:t>source of truth</a:t>
            </a:r>
            <a:r>
              <a:rPr sz="2600" b="0" i="0">
                <a:solidFill>
                  <a:srgbClr val="EAECEF"/>
                </a:solidFill>
                <a:latin typeface="Helvetica Neue"/>
              </a:rPr>
              <a:t> end to end.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0141F"/>
        </a:solidFill>
        <a:effectLst/>
      </p:bgPr>
    </p:bg>
    <p:spTree>
      <p:nvGrpSpPr>
        <p:cNvPr id="1" name=""/>
        <p:cNvGrpSpPr/>
        <p:nvPr/>
      </p:nvGrpSpPr>
      <p:grpSpPr/>
      <p:sp>
        <p:nvSpPr>
          <p:cNvPr id="2" name="TextBox 1"/>
          <p:cNvSpPr txBox="1"/>
          <p:nvPr/>
        </p:nvSpPr>
        <p:spPr>
          <a:xfrm>
            <a:off x="640080" y="548640"/>
            <a:ext cx="10972800" cy="5760720"/>
          </a:xfrm>
          <a:prstGeom prst="rect">
            <a:avLst/>
          </a:prstGeom>
          <a:noFill/>
        </p:spPr>
        <p:txBody>
          <a:bodyPr wrap="square">
            <a:spAutoFit/>
          </a:bodyPr>
          <a:lstStyle/>
          <a:p>
            <a:pPr>
              <a:spcAft>
                <a:spcPts val="1800"/>
              </a:spcAft>
            </a:pPr>
            <a:r>
              <a:rPr sz="4400" b="1" i="0">
                <a:solidFill>
                  <a:srgbClr val="6EA8FE"/>
                </a:solidFill>
                <a:latin typeface="Helvetica Neue"/>
              </a:rPr>
              <a:t>Why we should write specs</a:t>
            </a:r>
          </a:p>
          <a:p>
            <a:pPr>
              <a:spcAft>
                <a:spcPts val="400"/>
              </a:spcAft>
            </a:pPr>
          </a:p>
          <a:p>
            <a:pPr>
              <a:spcAft>
                <a:spcPts val="800"/>
              </a:spcAft>
            </a:pPr>
            <a:r>
              <a:rPr sz="2400" b="0" i="0">
                <a:solidFill>
                  <a:srgbClr val="EAECEF"/>
                </a:solidFill>
                <a:latin typeface="Helvetica Neue"/>
              </a:rPr>
              <a:t>•  Code is **lossy**. Specs carry **intent**.</a:t>
            </a:r>
          </a:p>
          <a:p>
            <a:pPr>
              <a:spcAft>
                <a:spcPts val="800"/>
              </a:spcAft>
            </a:pPr>
            <a:r>
              <a:rPr sz="2400" b="0" i="0">
                <a:solidFill>
                  <a:srgbClr val="EAECEF"/>
                </a:solidFill>
                <a:latin typeface="Helvetica Neue"/>
              </a:rPr>
              <a:t>•  Specs **align humans** before they align machines.</a:t>
            </a:r>
          </a:p>
          <a:p>
            <a:pPr>
              <a:spcAft>
                <a:spcPts val="800"/>
              </a:spcAft>
            </a:pPr>
            <a:r>
              <a:rPr sz="2400" b="0" i="0">
                <a:solidFill>
                  <a:srgbClr val="EAECEF"/>
                </a:solidFill>
                <a:latin typeface="Helvetica Neue"/>
              </a:rPr>
              <a:t>•  Specs are **executable** — training, eval, audit.</a:t>
            </a:r>
          </a:p>
          <a:p>
            <a:pPr>
              <a:spcAft>
                <a:spcPts val="800"/>
              </a:spcAft>
            </a:pPr>
            <a:r>
              <a:rPr sz="2400" b="0" i="0">
                <a:solidFill>
                  <a:srgbClr val="EAECEF"/>
                </a:solidFill>
                <a:latin typeface="Helvetica Neue"/>
              </a:rPr>
              <a:t>•  Specs make AI agents **trustworthy at scale**.</a:t>
            </a:r>
          </a:p>
          <a:p>
            <a:pPr>
              <a:spcAft>
                <a:spcPts val="800"/>
              </a:spcAft>
            </a:pPr>
            <a:r>
              <a:rPr sz="2400" b="0" i="0">
                <a:solidFill>
                  <a:srgbClr val="EAECEF"/>
                </a:solidFill>
                <a:latin typeface="Helvetica Neue"/>
              </a:rPr>
              <a:t>•  Whoever writes the spec is **the engineer**.</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0141F"/>
        </a:solidFill>
        <a:effectLst/>
      </p:bgPr>
    </p:bg>
    <p:spTree>
      <p:nvGrpSpPr>
        <p:cNvPr id="1" name=""/>
        <p:cNvGrpSpPr/>
        <p:nvPr/>
      </p:nvGrpSpPr>
      <p:grpSpPr/>
      <p:sp>
        <p:nvSpPr>
          <p:cNvPr id="2" name="TextBox 1"/>
          <p:cNvSpPr txBox="1"/>
          <p:nvPr/>
        </p:nvSpPr>
        <p:spPr>
          <a:xfrm>
            <a:off x="640080" y="548640"/>
            <a:ext cx="10972800" cy="5760720"/>
          </a:xfrm>
          <a:prstGeom prst="rect">
            <a:avLst/>
          </a:prstGeom>
          <a:noFill/>
        </p:spPr>
        <p:txBody>
          <a:bodyPr wrap="square">
            <a:spAutoFit/>
          </a:bodyPr>
          <a:lstStyle/>
          <a:p>
            <a:pPr>
              <a:spcAft>
                <a:spcPts val="1800"/>
              </a:spcAft>
            </a:pPr>
            <a:r>
              <a:rPr sz="4400" b="1" i="0">
                <a:solidFill>
                  <a:srgbClr val="6EA8FE"/>
                </a:solidFill>
                <a:latin typeface="Helvetica Neue"/>
              </a:rPr>
              <a:t>Stop shredding your prompts.</a:t>
            </a:r>
          </a:p>
          <a:p>
            <a:pPr>
              <a:spcAft>
                <a:spcPts val="400"/>
              </a:spcAft>
            </a:pPr>
          </a:p>
          <a:p>
            <a:pPr>
              <a:spcAft>
                <a:spcPts val="1200"/>
              </a:spcAft>
            </a:pPr>
            <a:r>
              <a:rPr sz="3200" b="1" i="0">
                <a:solidFill>
                  <a:srgbClr val="EAECEF"/>
                </a:solidFill>
                <a:latin typeface="Helvetica Neue"/>
              </a:rPr>
              <a:t>The spec is the source.</a:t>
            </a:r>
          </a:p>
          <a:p>
            <a:pPr>
              <a:spcAft>
                <a:spcPts val="400"/>
              </a:spcAft>
            </a:pPr>
          </a:p>
          <a:p>
            <a:pPr>
              <a:spcAft>
                <a:spcPts val="600"/>
              </a:spcAft>
            </a:pPr>
            <a:r>
              <a:rPr sz="2000" b="0" i="1">
                <a:solidFill>
                  <a:srgbClr val="9AA3B2"/>
                </a:solidFill>
                <a:latin typeface="Helvetica Neue"/>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